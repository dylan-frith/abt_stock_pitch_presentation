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89CF"/>
              </a:solidFill>
              <a:effectLst/>
            </c:spPr>
          </c:dPt>
          <c:dPt>
            <c:idx val="1"/>
            <c:bubble3D val="0"/>
            <c:spPr>
              <a:solidFill>
                <a:srgbClr val="5FA8DC"/>
              </a:solidFill>
              <a:effectLst/>
            </c:spPr>
          </c:dPt>
          <c:dPt>
            <c:idx val="2"/>
            <c:bubble3D val="0"/>
            <c:spPr>
              <a:solidFill>
                <a:srgbClr val="AFCDEA"/>
              </a:solidFill>
              <a:effectLst/>
            </c:spPr>
          </c:dPt>
          <c:dPt>
            <c:idx val="3"/>
            <c:bubble3D val="0"/>
            <c:spPr>
              <a:solidFill>
                <a:srgbClr val="0B2E4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Nutrition</c:v>
                </c:pt>
                <c:pt idx="1">
                  <c:v>Diagnostics</c:v>
                </c:pt>
                <c:pt idx="2">
                  <c:v>Established Pharmaceuticals</c:v>
                </c:pt>
                <c:pt idx="3">
                  <c:v>Medical Devices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20</c:v>
                </c:pt>
                <c:pt idx="1">
                  <c:v>25</c:v>
                </c:pt>
                <c:pt idx="2">
                  <c:v>13</c:v>
                </c:pt>
                <c:pt idx="3">
                  <c:v>42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Nutrition</c:v>
                </c:pt>
              </c:strCache>
            </c:strRef>
          </c:tx>
          <c:spPr>
            <a:solidFill>
              <a:srgbClr val="0089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2023</c:v>
                  </c:pt>
                  <c:pt idx="1">
                    <c:v>2024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8000</c:v>
                </c:pt>
                <c:pt idx="1">
                  <c:v>8400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Diagnostics</c:v>
                </c:pt>
              </c:strCache>
            </c:strRef>
          </c:tx>
          <c:spPr>
            <a:solidFill>
              <a:srgbClr val="5FA8D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2023</c:v>
                  </c:pt>
                  <c:pt idx="1">
                    <c:v>2024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10000</c:v>
                </c:pt>
                <c:pt idx="1">
                  <c:v>10500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Established Pharmaceuticals</c:v>
                </c:pt>
              </c:strCache>
            </c:strRef>
          </c:tx>
          <c:spPr>
            <a:solidFill>
              <a:srgbClr val="AFCDE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2023</c:v>
                  </c:pt>
                  <c:pt idx="1">
                    <c:v>2024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5200</c:v>
                </c:pt>
                <c:pt idx="1">
                  <c:v>5450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Medical Devices</c:v>
                </c:pt>
              </c:strCache>
            </c:strRef>
          </c:tx>
          <c:spPr>
            <a:solidFill>
              <a:srgbClr val="0B2E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2023</c:v>
                  </c:pt>
                  <c:pt idx="1">
                    <c:v>2024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16909</c:v>
                </c:pt>
                <c:pt idx="1">
                  <c:v>17600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0"/>
          <c:min val="0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Freestyle Libre Users</c:v>
                </c:pt>
              </c:strCache>
            </c:strRef>
          </c:tx>
          <c:spPr>
            <a:solidFill>
              <a:srgbClr val="0089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2750</c:v>
                </c:pt>
                <c:pt idx="1">
                  <c:v>3800</c:v>
                </c:pt>
                <c:pt idx="2">
                  <c:v>4600</c:v>
                </c:pt>
                <c:pt idx="3">
                  <c:v>5600</c:v>
                </c:pt>
                <c:pt idx="4">
                  <c:v>6800</c:v>
                </c:pt>
                <c:pt idx="5">
                  <c:v>7600</c:v>
                </c:pt>
                <c:pt idx="6">
                  <c:v>8700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1A1A1A"/>
                    </a:solidFill>
                    <a:latin typeface="Arial"/>
                  </a:rPr>
                  <a:t>Freestyle Libre Users in millions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mbria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Cambria"/>
              </a:rPr>
              <a:t>ABT EBIT to Relative Peers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ABT</c:v>
                </c:pt>
              </c:strCache>
            </c:strRef>
          </c:tx>
          <c:spPr>
            <a:solidFill>
              <a:srgbClr val="0089CF"/>
            </a:solidFill>
            <a:ln w="25400" cap="flat">
              <a:solidFill>
                <a:srgbClr val="0089C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89CF"/>
              </a:solidFill>
              <a:ln w="9525" cap="flat">
                <a:solidFill>
                  <a:srgbClr val="0089C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9200</c:v>
                </c:pt>
                <c:pt idx="1">
                  <c:v>10100</c:v>
                </c:pt>
                <c:pt idx="2">
                  <c:v>11200</c:v>
                </c:pt>
                <c:pt idx="3">
                  <c:v>12200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Average</c:v>
                </c:pt>
              </c:strCache>
            </c:strRef>
          </c:tx>
          <c:spPr>
            <a:solidFill>
              <a:srgbClr val="6B7280"/>
            </a:solidFill>
            <a:ln w="25400" cap="flat">
              <a:solidFill>
                <a:srgbClr val="6B72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B7280"/>
              </a:solidFill>
              <a:ln w="9525" cap="flat">
                <a:solidFill>
                  <a:srgbClr val="6B72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7300</c:v>
                </c:pt>
                <c:pt idx="1">
                  <c:v>8000</c:v>
                </c:pt>
                <c:pt idx="2">
                  <c:v>8700</c:v>
                </c:pt>
                <c:pt idx="3">
                  <c:v>9400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0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828800"/>
            <a:ext cx="5486400" cy="5486400"/>
          </a:xfrm>
          <a:prstGeom prst="arc">
            <a:avLst>
              <a:gd name="adj1" fmla="val 1200000"/>
              <a:gd name="adj2" fmla="val 9600000"/>
            </a:avLst>
          </a:prstGeom>
          <a:ln w="12700">
            <a:solidFill>
              <a:srgbClr val="DDE3E8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-1691640" y="-1554480"/>
            <a:ext cx="5120640" cy="5120640"/>
          </a:xfrm>
          <a:prstGeom prst="arc">
            <a:avLst>
              <a:gd name="adj1" fmla="val 1200000"/>
              <a:gd name="adj2" fmla="val 9600000"/>
            </a:avLst>
          </a:prstGeom>
          <a:ln w="12700">
            <a:solidFill>
              <a:srgbClr val="DDE3E8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-1371600" y="-1280160"/>
            <a:ext cx="4754880" cy="4754880"/>
          </a:xfrm>
          <a:prstGeom prst="arc">
            <a:avLst>
              <a:gd name="adj1" fmla="val 1200000"/>
              <a:gd name="adj2" fmla="val 9600000"/>
            </a:avLst>
          </a:prstGeom>
          <a:ln w="12700">
            <a:solidFill>
              <a:srgbClr val="DDE3E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-1051560" y="-1005840"/>
            <a:ext cx="4389120" cy="4389120"/>
          </a:xfrm>
          <a:prstGeom prst="arc">
            <a:avLst>
              <a:gd name="adj1" fmla="val 1200000"/>
              <a:gd name="adj2" fmla="val 9600000"/>
            </a:avLst>
          </a:prstGeom>
          <a:ln w="12700">
            <a:solidFill>
              <a:srgbClr val="DDE3E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-731520" y="-731520"/>
            <a:ext cx="4023360" cy="4023360"/>
          </a:xfrm>
          <a:prstGeom prst="arc">
            <a:avLst>
              <a:gd name="adj1" fmla="val 1200000"/>
              <a:gd name="adj2" fmla="val 9600000"/>
            </a:avLst>
          </a:prstGeom>
          <a:ln w="12700">
            <a:solidFill>
              <a:srgbClr val="DDE3E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-411480" y="-457200"/>
            <a:ext cx="3657600" cy="3657600"/>
          </a:xfrm>
          <a:prstGeom prst="arc">
            <a:avLst>
              <a:gd name="adj1" fmla="val 1200000"/>
              <a:gd name="adj2" fmla="val 9600000"/>
            </a:avLst>
          </a:prstGeom>
          <a:ln w="12700">
            <a:solidFill>
              <a:srgbClr val="DDE3E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737360" y="1828800"/>
            <a:ext cx="1737360" cy="1463040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77800">
            <a:solidFill>
              <a:srgbClr val="0089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69164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i="1" dirty="0">
                <a:solidFill>
                  <a:srgbClr val="0089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3657600" y="187452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Abbott</a:t>
            </a:r>
            <a:endParaRPr lang="en-US" sz="8800" dirty="0"/>
          </a:p>
        </p:txBody>
      </p:sp>
      <p:sp>
        <p:nvSpPr>
          <p:cNvPr id="11" name="Text 9"/>
          <p:cNvSpPr/>
          <p:nvPr/>
        </p:nvSpPr>
        <p:spPr>
          <a:xfrm>
            <a:off x="1737360" y="3703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Recommendation of $121.61 (32.5% Upside)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Dylan Frith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4617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3/5/25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84048" y="868680"/>
            <a:ext cx="5669280" cy="0"/>
          </a:xfrm>
          <a:prstGeom prst="line">
            <a:avLst/>
          </a:prstGeom>
          <a:noFill/>
          <a:ln w="31750">
            <a:solidFill>
              <a:srgbClr val="0089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914400"/>
            <a:ext cx="5669280" cy="0"/>
          </a:xfrm>
          <a:prstGeom prst="line">
            <a:avLst/>
          </a:prstGeom>
          <a:noFill/>
          <a:ln w="12700">
            <a:solidFill>
              <a:srgbClr val="0089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0" y="164592"/>
            <a:ext cx="45720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31750">
            <a:solidFill>
              <a:srgbClr val="0089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0" y="10972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0089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292840" y="53035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Abbott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1)  Company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22128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2)  Investment Thesis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87121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3)  Financial Statement Modeling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352958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4)  Valuations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41879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5)  Risk / Mitigations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4846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6)  Recommendation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Overview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84048" y="868680"/>
            <a:ext cx="5669280" cy="0"/>
          </a:xfrm>
          <a:prstGeom prst="line">
            <a:avLst/>
          </a:prstGeom>
          <a:noFill/>
          <a:ln w="31750">
            <a:solidFill>
              <a:srgbClr val="0089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914400"/>
            <a:ext cx="5669280" cy="0"/>
          </a:xfrm>
          <a:prstGeom prst="line">
            <a:avLst/>
          </a:prstGeom>
          <a:noFill/>
          <a:ln w="12700">
            <a:solidFill>
              <a:srgbClr val="0089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0" y="164592"/>
            <a:ext cx="45720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31750">
            <a:solidFill>
              <a:srgbClr val="0089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0" y="10972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0089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292840" y="53035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Abbott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 rot="5400000">
            <a:off x="11868912" y="1371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Sources: Capital IQ, Wolfe Research and 10K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5394960" cy="384048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14300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Description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160020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Abbott Laboratories (NYSE: ABT): </a:t>
            </a:r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 healthcare company that discovers, manufactures, and sells a broad and diversified line of health care products and services in 160 countries.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3774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company's products include pharmaceuticals, nutritional, diagnostics, and vascular products. Abbott markets its products worldwide through affiliates.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063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Abbott Laboratories main competition includes: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Johnson and Johnson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Boston Scientific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Medtronic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2976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Segment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1280160" y="4526280"/>
          <a:ext cx="329184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6035040" y="1143000"/>
            <a:ext cx="5760720" cy="384048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20" name="Text 17"/>
          <p:cNvSpPr/>
          <p:nvPr/>
        </p:nvSpPr>
        <p:spPr>
          <a:xfrm>
            <a:off x="6035040" y="114300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Overview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600200"/>
          <a:ext cx="55778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43000"/>
                <a:gridCol w="1554480"/>
                <a:gridCol w="548640"/>
                <a:gridCol w="59436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Trading Statistics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Financial Results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2024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2023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Share price as of 3/5/2024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$137.79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Organic Sales Growth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-6.20%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$99.71 - $140.84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 Week Range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Diabetes Revenue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6,805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5,761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YTD Change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23.97%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Diagnostics Revenue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Mkt Cap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243.2B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Dividend Yield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1.71%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9006840" y="1627632"/>
            <a:ext cx="0" cy="128016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035040" y="3429000"/>
            <a:ext cx="5760720" cy="384048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24" name="Text 20"/>
          <p:cNvSpPr/>
          <p:nvPr/>
        </p:nvSpPr>
        <p:spPr>
          <a:xfrm>
            <a:off x="6035040" y="342900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Growth</a:t>
            </a:r>
            <a:endParaRPr lang="en-US" sz="1500" dirty="0"/>
          </a:p>
        </p:txBody>
      </p:sp>
      <p:graphicFrame>
        <p:nvGraphicFramePr>
          <p:cNvPr id="25" name="Chart 1" descr=""/>
          <p:cNvGraphicFramePr/>
          <p:nvPr/>
        </p:nvGraphicFramePr>
        <p:xfrm>
          <a:off x="6309360" y="3931920"/>
          <a:ext cx="53949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 21"/>
          <p:cNvSpPr/>
          <p:nvPr/>
        </p:nvSpPr>
        <p:spPr>
          <a:xfrm>
            <a:off x="6903720" y="402336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$40,109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9646920" y="396849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$41,950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8366760" y="4617720"/>
            <a:ext cx="1371600" cy="-457200"/>
          </a:xfrm>
          <a:prstGeom prst="line">
            <a:avLst/>
          </a:prstGeom>
          <a:noFill/>
          <a:ln w="31750">
            <a:solidFill>
              <a:srgbClr val="22A06B"/>
            </a:solidFill>
            <a:prstDash val="solid"/>
            <a:headEnd type="none"/>
            <a:tailEnd type="triangle"/>
          </a:ln>
        </p:spPr>
      </p:sp>
      <p:sp>
        <p:nvSpPr>
          <p:cNvPr id="29" name="Text 24"/>
          <p:cNvSpPr/>
          <p:nvPr/>
        </p:nvSpPr>
        <p:spPr>
          <a:xfrm>
            <a:off x="8503920" y="404164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+ 5%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309360" y="59436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$US mm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640080" y="6473952"/>
            <a:ext cx="10911535" cy="0"/>
          </a:xfrm>
          <a:prstGeom prst="line">
            <a:avLst/>
          </a:prstGeom>
          <a:noFill/>
          <a:ln w="38100">
            <a:solidFill>
              <a:srgbClr val="D0D4D8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93776" y="6327648"/>
            <a:ext cx="292608" cy="292608"/>
          </a:xfrm>
          <a:prstGeom prst="ellipse">
            <a:avLst/>
          </a:prstGeom>
          <a:solidFill>
            <a:srgbClr val="0089CF"/>
          </a:solidFill>
          <a:ln/>
        </p:spPr>
      </p:sp>
      <p:sp>
        <p:nvSpPr>
          <p:cNvPr id="33" name="Text 28"/>
          <p:cNvSpPr/>
          <p:nvPr/>
        </p:nvSpPr>
        <p:spPr>
          <a:xfrm>
            <a:off x="493776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-182880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Company/Industry Overview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2676083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36" name="Text 31"/>
          <p:cNvSpPr/>
          <p:nvPr/>
        </p:nvSpPr>
        <p:spPr>
          <a:xfrm>
            <a:off x="2676083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1999427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4858390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39" name="Text 34"/>
          <p:cNvSpPr/>
          <p:nvPr/>
        </p:nvSpPr>
        <p:spPr>
          <a:xfrm>
            <a:off x="4858390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4181734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 Modeling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7040697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42" name="Text 37"/>
          <p:cNvSpPr/>
          <p:nvPr/>
        </p:nvSpPr>
        <p:spPr>
          <a:xfrm>
            <a:off x="7040697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6364041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Valuations</a:t>
            </a:r>
            <a:endParaRPr lang="en-US" sz="800" dirty="0"/>
          </a:p>
        </p:txBody>
      </p:sp>
      <p:sp>
        <p:nvSpPr>
          <p:cNvPr id="44" name="Shape 39"/>
          <p:cNvSpPr/>
          <p:nvPr/>
        </p:nvSpPr>
        <p:spPr>
          <a:xfrm>
            <a:off x="9223004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45" name="Text 40"/>
          <p:cNvSpPr/>
          <p:nvPr/>
        </p:nvSpPr>
        <p:spPr>
          <a:xfrm>
            <a:off x="9223004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8546348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Mitigants</a:t>
            </a:r>
            <a:endParaRPr lang="en-US" sz="800" dirty="0"/>
          </a:p>
        </p:txBody>
      </p:sp>
      <p:sp>
        <p:nvSpPr>
          <p:cNvPr id="47" name="Shape 42"/>
          <p:cNvSpPr/>
          <p:nvPr/>
        </p:nvSpPr>
        <p:spPr>
          <a:xfrm>
            <a:off x="11405311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48" name="Text 43"/>
          <p:cNvSpPr/>
          <p:nvPr/>
        </p:nvSpPr>
        <p:spPr>
          <a:xfrm>
            <a:off x="11405311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9" name="Text 44"/>
          <p:cNvSpPr/>
          <p:nvPr/>
        </p:nvSpPr>
        <p:spPr>
          <a:xfrm>
            <a:off x="10728655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Thesis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84048" y="868680"/>
            <a:ext cx="5669280" cy="0"/>
          </a:xfrm>
          <a:prstGeom prst="line">
            <a:avLst/>
          </a:prstGeom>
          <a:noFill/>
          <a:ln w="31750">
            <a:solidFill>
              <a:srgbClr val="0089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914400"/>
            <a:ext cx="5669280" cy="0"/>
          </a:xfrm>
          <a:prstGeom prst="line">
            <a:avLst/>
          </a:prstGeom>
          <a:noFill/>
          <a:ln w="12700">
            <a:solidFill>
              <a:srgbClr val="0089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0" y="164592"/>
            <a:ext cx="45720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31750">
            <a:solidFill>
              <a:srgbClr val="0089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0" y="10972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0089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292840" y="53035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Abbott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 rot="5400000">
            <a:off x="11868912" y="1371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Sources: Wolfe Research, Capital IQ and Bloomberg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1280160" y="1051560"/>
          <a:ext cx="85953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 rot="360000">
            <a:off x="5486400" y="1143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CAGR 19.4%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06240" y="1783080"/>
            <a:ext cx="3291840" cy="-50292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65760" y="3063240"/>
            <a:ext cx="11430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0632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healthcare market is experiencing strong demand for Libre devices, leading growth back to pre-pandemic levels, headed for continued growth in a large addressable market.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3703320"/>
            <a:ext cx="3703320" cy="384048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370332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Libre (CGM) Performance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1480" y="4160520"/>
            <a:ext cx="3611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Libre Continuous Glucose Monitor (CGM) sales surged 22.8% in 2024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 Libre products is growing at a 19.4% CAGR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Abbott built the highest-producing automated facility for Libre products during Q4 2024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51960" y="3703320"/>
            <a:ext cx="3703320" cy="384048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18" name="Text 15"/>
          <p:cNvSpPr/>
          <p:nvPr/>
        </p:nvSpPr>
        <p:spPr>
          <a:xfrm>
            <a:off x="4251960" y="370332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Financial Performance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97680" y="4160520"/>
            <a:ext cx="3611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Q4 2024, Abbott reported a 7.2% increase in sales, totaling $10.97 billion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Gross margin finished 2024 at 56.2%, 340 bps below the pre-pandemic peak of 59.6%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Organic growth sales (ex-Covid tests) grew 10.1%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138160" y="3703320"/>
            <a:ext cx="3657600" cy="384048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21" name="Text 18"/>
          <p:cNvSpPr/>
          <p:nvPr/>
        </p:nvSpPr>
        <p:spPr>
          <a:xfrm>
            <a:off x="8138160" y="37033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 for Expansion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183880" y="416052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Under-penetration in the intensive insulin-using segment (~25% of U.S., ~50% intl. not on CGM)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Partnerships / integrate Bigfoot Biomedical insulin delivery with CGM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OTC non-diabetes push with Lingo launch in the US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clinical trial for VOLT Pulsed-Field Ablation (PFA) system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40080" y="6473952"/>
            <a:ext cx="10911535" cy="0"/>
          </a:xfrm>
          <a:prstGeom prst="line">
            <a:avLst/>
          </a:prstGeom>
          <a:noFill/>
          <a:ln w="38100">
            <a:solidFill>
              <a:srgbClr val="D0D4D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93776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25" name="Text 22"/>
          <p:cNvSpPr/>
          <p:nvPr/>
        </p:nvSpPr>
        <p:spPr>
          <a:xfrm>
            <a:off x="493776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-182880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Company/Industry Overview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676083" y="6327648"/>
            <a:ext cx="292608" cy="292608"/>
          </a:xfrm>
          <a:prstGeom prst="ellipse">
            <a:avLst/>
          </a:prstGeom>
          <a:solidFill>
            <a:srgbClr val="0089CF"/>
          </a:solidFill>
          <a:ln/>
        </p:spPr>
      </p:sp>
      <p:sp>
        <p:nvSpPr>
          <p:cNvPr id="28" name="Text 25"/>
          <p:cNvSpPr/>
          <p:nvPr/>
        </p:nvSpPr>
        <p:spPr>
          <a:xfrm>
            <a:off x="2676083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999427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858390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31" name="Text 28"/>
          <p:cNvSpPr/>
          <p:nvPr/>
        </p:nvSpPr>
        <p:spPr>
          <a:xfrm>
            <a:off x="4858390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181734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 Modeling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040697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34" name="Text 31"/>
          <p:cNvSpPr/>
          <p:nvPr/>
        </p:nvSpPr>
        <p:spPr>
          <a:xfrm>
            <a:off x="7040697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364041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223004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37" name="Text 34"/>
          <p:cNvSpPr/>
          <p:nvPr/>
        </p:nvSpPr>
        <p:spPr>
          <a:xfrm>
            <a:off x="9223004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546348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Mitigants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11405311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40" name="Text 37"/>
          <p:cNvSpPr/>
          <p:nvPr/>
        </p:nvSpPr>
        <p:spPr>
          <a:xfrm>
            <a:off x="11405311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0728655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Thesis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84048" y="868680"/>
            <a:ext cx="5669280" cy="0"/>
          </a:xfrm>
          <a:prstGeom prst="line">
            <a:avLst/>
          </a:prstGeom>
          <a:noFill/>
          <a:ln w="31750">
            <a:solidFill>
              <a:srgbClr val="0089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914400"/>
            <a:ext cx="5669280" cy="0"/>
          </a:xfrm>
          <a:prstGeom prst="line">
            <a:avLst/>
          </a:prstGeom>
          <a:noFill/>
          <a:ln w="12700">
            <a:solidFill>
              <a:srgbClr val="0089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0" y="164592"/>
            <a:ext cx="45720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31750">
            <a:solidFill>
              <a:srgbClr val="0089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0" y="10972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0089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292840" y="53035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Abbott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 rot="5400000">
            <a:off x="11868912" y="1371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Sources: Wolfe Research and Bloomberg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11430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Despite headwinds from competition, Abbott has been able to put up strong financials and earnings.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783080"/>
            <a:ext cx="5760720" cy="384048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78308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Abbott's Recent Performance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228600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ABT's share price rose 11.6% on stronger demand for CGM offerings &amp; 10.1% organic sales growth</a:t>
            </a:r>
            <a:endParaRPr lang="en-US" sz="1200" dirty="0"/>
          </a:p>
          <a:p>
            <a:pPr algn="l"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Adj. diluted EPS of $1.34, meeting analyst expectations</a:t>
            </a:r>
            <a:endParaRPr lang="en-US" sz="1200" dirty="0"/>
          </a:p>
          <a:p>
            <a:pPr algn="l"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 2024 gross margin improved 60 bps on an adjusted basis</a:t>
            </a:r>
            <a:endParaRPr lang="en-US" sz="1200" dirty="0"/>
          </a:p>
          <a:p>
            <a:pPr algn="l" marL="342900" indent="-342900">
              <a:buSzPct val="100000"/>
              <a:buChar char="–"/>
            </a:pPr>
            <a:r>
              <a:rPr lang="en-US" sz="1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 2024 continuous glucose monitor sales surged 22.8%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3794760"/>
            <a:ext cx="5760720" cy="384048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379476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Earnings Relative to Peers</a:t>
            </a:r>
            <a:endParaRPr lang="en-US" sz="15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383280" y="4297680"/>
          <a:ext cx="539496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429768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Note: Historically, ABT's EBIT has slightly outperformed the peer group.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" y="6473952"/>
            <a:ext cx="10911535" cy="0"/>
          </a:xfrm>
          <a:prstGeom prst="line">
            <a:avLst/>
          </a:prstGeom>
          <a:noFill/>
          <a:ln w="38100">
            <a:solidFill>
              <a:srgbClr val="D0D4D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3776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20" name="Text 17"/>
          <p:cNvSpPr/>
          <p:nvPr/>
        </p:nvSpPr>
        <p:spPr>
          <a:xfrm>
            <a:off x="493776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-182880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Company/Industry Overview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676083" y="6327648"/>
            <a:ext cx="292608" cy="292608"/>
          </a:xfrm>
          <a:prstGeom prst="ellipse">
            <a:avLst/>
          </a:prstGeom>
          <a:solidFill>
            <a:srgbClr val="0089CF"/>
          </a:solidFill>
          <a:ln/>
        </p:spPr>
      </p:sp>
      <p:sp>
        <p:nvSpPr>
          <p:cNvPr id="23" name="Text 20"/>
          <p:cNvSpPr/>
          <p:nvPr/>
        </p:nvSpPr>
        <p:spPr>
          <a:xfrm>
            <a:off x="2676083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999427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858390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26" name="Text 23"/>
          <p:cNvSpPr/>
          <p:nvPr/>
        </p:nvSpPr>
        <p:spPr>
          <a:xfrm>
            <a:off x="4858390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181734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 Modeling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7040697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29" name="Text 26"/>
          <p:cNvSpPr/>
          <p:nvPr/>
        </p:nvSpPr>
        <p:spPr>
          <a:xfrm>
            <a:off x="7040697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364041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223004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32" name="Text 29"/>
          <p:cNvSpPr/>
          <p:nvPr/>
        </p:nvSpPr>
        <p:spPr>
          <a:xfrm>
            <a:off x="9223004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546348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Mitigants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11405311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35" name="Text 32"/>
          <p:cNvSpPr/>
          <p:nvPr/>
        </p:nvSpPr>
        <p:spPr>
          <a:xfrm>
            <a:off x="11405311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0728655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Statement Model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84048" y="868680"/>
            <a:ext cx="5669280" cy="0"/>
          </a:xfrm>
          <a:prstGeom prst="line">
            <a:avLst/>
          </a:prstGeom>
          <a:noFill/>
          <a:ln w="31750">
            <a:solidFill>
              <a:srgbClr val="0089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914400"/>
            <a:ext cx="5669280" cy="0"/>
          </a:xfrm>
          <a:prstGeom prst="line">
            <a:avLst/>
          </a:prstGeom>
          <a:noFill/>
          <a:ln w="12700">
            <a:solidFill>
              <a:srgbClr val="0089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0" y="164592"/>
            <a:ext cx="45720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31750">
            <a:solidFill>
              <a:srgbClr val="0089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0" y="10972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0089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292840" y="53035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Abbott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48840" y="1170432"/>
            <a:ext cx="3931920" cy="219456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117043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80760" y="1170432"/>
            <a:ext cx="4892040" cy="219456"/>
          </a:xfrm>
          <a:prstGeom prst="rect">
            <a:avLst/>
          </a:prstGeom>
          <a:solidFill>
            <a:srgbClr val="5FA8DC"/>
          </a:solidFill>
          <a:ln/>
        </p:spPr>
      </p:sp>
      <p:sp>
        <p:nvSpPr>
          <p:cNvPr id="11" name="Text 9"/>
          <p:cNvSpPr/>
          <p:nvPr/>
        </p:nvSpPr>
        <p:spPr>
          <a:xfrm>
            <a:off x="6080760" y="117043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89888"/>
          <a:ext cx="1143000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969264"/>
                <a:gridCol w="969264"/>
                <a:gridCol w="969264"/>
                <a:gridCol w="969264"/>
                <a:gridCol w="969264"/>
                <a:gridCol w="969264"/>
                <a:gridCol w="969264"/>
                <a:gridCol w="969264"/>
                <a:gridCol w="969264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75B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75B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75B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75B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75B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FA8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FA8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FA8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FA8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2029E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FA8D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43075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43653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41950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46682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48549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growth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margin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 and Amortization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D&amp;A/Sales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margin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on EBIT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 and Amortization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(1885)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(1777)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(2202)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(2246)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(2603)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(2661)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(2573)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(2040)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% of 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in NWC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(771)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(1519)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(2475)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(1706)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(1867)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(1942)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(1500)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(1530)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% of 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Unlevered Free Cash Flow to the Firm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$9,353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$8,226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$4,901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$5,680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$6,598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$6,760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$7,239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$8,606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89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$8,747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365760" y="5852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Model — Cash Flow Statement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6473952"/>
            <a:ext cx="10911535" cy="0"/>
          </a:xfrm>
          <a:prstGeom prst="line">
            <a:avLst/>
          </a:prstGeom>
          <a:noFill/>
          <a:ln w="38100">
            <a:solidFill>
              <a:srgbClr val="D0D4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3776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16" name="Text 13"/>
          <p:cNvSpPr/>
          <p:nvPr/>
        </p:nvSpPr>
        <p:spPr>
          <a:xfrm>
            <a:off x="493776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-182880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Company/Industry Overview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676083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19" name="Text 16"/>
          <p:cNvSpPr/>
          <p:nvPr/>
        </p:nvSpPr>
        <p:spPr>
          <a:xfrm>
            <a:off x="2676083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999427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858390" y="6327648"/>
            <a:ext cx="292608" cy="292608"/>
          </a:xfrm>
          <a:prstGeom prst="ellipse">
            <a:avLst/>
          </a:prstGeom>
          <a:solidFill>
            <a:srgbClr val="0089CF"/>
          </a:solidFill>
          <a:ln/>
        </p:spPr>
      </p:sp>
      <p:sp>
        <p:nvSpPr>
          <p:cNvPr id="22" name="Text 19"/>
          <p:cNvSpPr/>
          <p:nvPr/>
        </p:nvSpPr>
        <p:spPr>
          <a:xfrm>
            <a:off x="4858390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181734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 Modeling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7040697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25" name="Text 22"/>
          <p:cNvSpPr/>
          <p:nvPr/>
        </p:nvSpPr>
        <p:spPr>
          <a:xfrm>
            <a:off x="7040697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364041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9223004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28" name="Text 25"/>
          <p:cNvSpPr/>
          <p:nvPr/>
        </p:nvSpPr>
        <p:spPr>
          <a:xfrm>
            <a:off x="9223004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546348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Mitigants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1405311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31" name="Text 28"/>
          <p:cNvSpPr/>
          <p:nvPr/>
        </p:nvSpPr>
        <p:spPr>
          <a:xfrm>
            <a:off x="11405311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0728655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84048" y="868680"/>
            <a:ext cx="5669280" cy="0"/>
          </a:xfrm>
          <a:prstGeom prst="line">
            <a:avLst/>
          </a:prstGeom>
          <a:noFill/>
          <a:ln w="31750">
            <a:solidFill>
              <a:srgbClr val="0089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914400"/>
            <a:ext cx="5669280" cy="0"/>
          </a:xfrm>
          <a:prstGeom prst="line">
            <a:avLst/>
          </a:prstGeom>
          <a:noFill/>
          <a:ln w="12700">
            <a:solidFill>
              <a:srgbClr val="0089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0" y="164592"/>
            <a:ext cx="45720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31750">
            <a:solidFill>
              <a:srgbClr val="0089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0" y="10972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0089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292840" y="53035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Abbott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234440"/>
            <a:ext cx="4206240" cy="256032"/>
          </a:xfrm>
          <a:prstGeom prst="rect">
            <a:avLst/>
          </a:prstGeom>
          <a:solidFill>
            <a:srgbClr val="5FA8D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2344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Value: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90472"/>
          <a:ext cx="4206240" cy="914400"/>
        </p:xfrm>
        <a:graphic>
          <a:graphicData uri="http://schemas.openxmlformats.org/drawingml/2006/table">
            <a:tbl>
              <a:tblPr/>
              <a:tblGrid>
                <a:gridCol w="2776118"/>
                <a:gridCol w="1430122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Cumulative PV of Unlevered FCF to the Firm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$31,112.9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Present Value of Terminal Value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$107,793.1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of Enterprise Value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77.6%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Enterprise Value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$138,906.0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22960" y="2651760"/>
            <a:ext cx="4206240" cy="256032"/>
          </a:xfrm>
          <a:prstGeom prst="rect">
            <a:avLst/>
          </a:prstGeom>
          <a:solidFill>
            <a:srgbClr val="5FA8DC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6517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Implied Equity Value</a:t>
            </a:r>
            <a:endParaRPr lang="en-US" sz="11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907792"/>
          <a:ext cx="4206240" cy="914400"/>
        </p:xfrm>
        <a:graphic>
          <a:graphicData uri="http://schemas.openxmlformats.org/drawingml/2006/table">
            <a:tbl>
              <a:tblPr/>
              <a:tblGrid>
                <a:gridCol w="2776118"/>
                <a:gridCol w="1430122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Enterprise Value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$138,906.0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Debt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$(14,754.0)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Preferred Stock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 -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Non-Controlling Interest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$242.0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Cash and Cash Equivalents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$75,547.0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Implied Equity Value (Market Cap)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$199,941.01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Fully Diluted Shares Outstanding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1739.9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Implied Price Per Share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$114.92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486400" y="1234440"/>
            <a:ext cx="4023360" cy="256032"/>
          </a:xfrm>
          <a:prstGeom prst="rect">
            <a:avLst/>
          </a:prstGeom>
          <a:solidFill>
            <a:srgbClr val="5FA8DC"/>
          </a:solidFill>
          <a:ln/>
        </p:spPr>
      </p:sp>
      <p:sp>
        <p:nvSpPr>
          <p:cNvPr id="15" name="Text 11"/>
          <p:cNvSpPr/>
          <p:nvPr/>
        </p:nvSpPr>
        <p:spPr>
          <a:xfrm>
            <a:off x="5486400" y="12344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 (Continuing) Value</a:t>
            </a:r>
            <a:endParaRPr lang="en-US" sz="11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490472"/>
          <a:ext cx="4023360" cy="914400"/>
        </p:xfrm>
        <a:graphic>
          <a:graphicData uri="http://schemas.openxmlformats.org/drawingml/2006/table">
            <a:tbl>
              <a:tblPr/>
              <a:tblGrid>
                <a:gridCol w="2655418"/>
                <a:gridCol w="1367942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Exit Year Sales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$13,547.1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Exit Multiple EV/EBITDA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Terminal Value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$159,855.4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Discount Factor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Implied "g"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5486400" y="3154680"/>
            <a:ext cx="5897880" cy="310896"/>
          </a:xfrm>
          <a:prstGeom prst="rect">
            <a:avLst/>
          </a:prstGeom>
          <a:solidFill>
            <a:srgbClr val="5FA8DC"/>
          </a:solidFill>
          <a:ln/>
        </p:spPr>
      </p:sp>
      <p:sp>
        <p:nvSpPr>
          <p:cNvPr id="18" name="Text 13"/>
          <p:cNvSpPr/>
          <p:nvPr/>
        </p:nvSpPr>
        <p:spPr>
          <a:xfrm>
            <a:off x="5486400" y="3154680"/>
            <a:ext cx="5897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 Analysis: Exit EBITDA Multiple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46520" y="3502152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EV/EBITDA Multiple</a:t>
            </a:r>
            <a:endParaRPr lang="en-US" sz="1100" dirty="0"/>
          </a:p>
        </p:txBody>
      </p:sp>
      <p:graphicFrame>
        <p:nvGraphicFramePr>
          <p:cNvPr id="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3739896"/>
          <a:ext cx="49377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$114.92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$109.59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AF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$115.53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B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$121.47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8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$127.41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CF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$133.35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C673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$106.72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$112.42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4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$118.11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D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$123.81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4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$129.50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C74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$103.99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5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$109.46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AE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$114.92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7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$120.38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$125.84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175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$101.40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7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$106.64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$111.88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C0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$117.12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$122.36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776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$98.92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5F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$103.95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5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$108.98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AA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$114.01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0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$119.04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77"/>
                    </a:solidFill>
                  </a:tcPr>
                </a:tc>
              </a:tr>
            </a:tbl>
          </a:graphicData>
        </a:graphic>
      </p:graphicFrame>
      <p:sp>
        <p:nvSpPr>
          <p:cNvPr id="21" name="Text 15"/>
          <p:cNvSpPr/>
          <p:nvPr/>
        </p:nvSpPr>
        <p:spPr>
          <a:xfrm rot="16200000">
            <a:off x="5897880" y="3904488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WACC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40080" y="6473952"/>
            <a:ext cx="10911535" cy="0"/>
          </a:xfrm>
          <a:prstGeom prst="line">
            <a:avLst/>
          </a:prstGeom>
          <a:noFill/>
          <a:ln w="38100">
            <a:solidFill>
              <a:srgbClr val="D0D4D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93776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24" name="Text 18"/>
          <p:cNvSpPr/>
          <p:nvPr/>
        </p:nvSpPr>
        <p:spPr>
          <a:xfrm>
            <a:off x="493776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-182880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Company/Industry Overview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2676083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27" name="Text 21"/>
          <p:cNvSpPr/>
          <p:nvPr/>
        </p:nvSpPr>
        <p:spPr>
          <a:xfrm>
            <a:off x="2676083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999427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4858390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30" name="Text 24"/>
          <p:cNvSpPr/>
          <p:nvPr/>
        </p:nvSpPr>
        <p:spPr>
          <a:xfrm>
            <a:off x="4858390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181734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 Modeling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7040697" y="6327648"/>
            <a:ext cx="292608" cy="292608"/>
          </a:xfrm>
          <a:prstGeom prst="ellipse">
            <a:avLst/>
          </a:prstGeom>
          <a:solidFill>
            <a:srgbClr val="0089CF"/>
          </a:solidFill>
          <a:ln/>
        </p:spPr>
      </p:sp>
      <p:sp>
        <p:nvSpPr>
          <p:cNvPr id="33" name="Text 27"/>
          <p:cNvSpPr/>
          <p:nvPr/>
        </p:nvSpPr>
        <p:spPr>
          <a:xfrm>
            <a:off x="7040697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364041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Valuations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9223004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36" name="Text 30"/>
          <p:cNvSpPr/>
          <p:nvPr/>
        </p:nvSpPr>
        <p:spPr>
          <a:xfrm>
            <a:off x="9223004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8546348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Mitigants</a:t>
            </a:r>
            <a:endParaRPr lang="en-US" sz="800" dirty="0"/>
          </a:p>
        </p:txBody>
      </p:sp>
      <p:sp>
        <p:nvSpPr>
          <p:cNvPr id="38" name="Shape 32"/>
          <p:cNvSpPr/>
          <p:nvPr/>
        </p:nvSpPr>
        <p:spPr>
          <a:xfrm>
            <a:off x="11405311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39" name="Text 33"/>
          <p:cNvSpPr/>
          <p:nvPr/>
        </p:nvSpPr>
        <p:spPr>
          <a:xfrm>
            <a:off x="11405311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10728655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84048" y="868680"/>
            <a:ext cx="5669280" cy="0"/>
          </a:xfrm>
          <a:prstGeom prst="line">
            <a:avLst/>
          </a:prstGeom>
          <a:noFill/>
          <a:ln w="31750">
            <a:solidFill>
              <a:srgbClr val="0089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914400"/>
            <a:ext cx="5669280" cy="0"/>
          </a:xfrm>
          <a:prstGeom prst="line">
            <a:avLst/>
          </a:prstGeom>
          <a:noFill/>
          <a:ln w="12700">
            <a:solidFill>
              <a:srgbClr val="0089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0" y="164592"/>
            <a:ext cx="45720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31750">
            <a:solidFill>
              <a:srgbClr val="0089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0" y="10972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0089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292840" y="53035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Abbott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6596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32688"/>
                <a:gridCol w="932688"/>
                <a:gridCol w="1024128"/>
                <a:gridCol w="1024128"/>
                <a:gridCol w="932688"/>
                <a:gridCol w="1207008"/>
                <a:gridCol w="932688"/>
              </a:tblGrid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A8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A8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P/BV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A8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P/OCF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A8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P/FCF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A8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EV/S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A8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EV/EBITDA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A8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EV/EBIT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A8D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SYK 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36.02x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6.89x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39.77x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48.45x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6.87x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27.05x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34.73x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BSX 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48.43x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6.08x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46.89x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67.04x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8.68x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35.72x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53.47x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MDT 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21.67x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17.24x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23.14x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4.16x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17.41x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26.32x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BDX 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19.56x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17.77x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21.76x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4.23x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19.01x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39.48x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TMO 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36.98x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4.94x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25.24x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29.64x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6.16x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24.79x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36.22x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32.53x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29.38x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38.01x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6.02x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38.04x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36.02x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4.94x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25.24x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29.64x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6.16x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24.79x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36.22x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377440" y="3383280"/>
            <a:ext cx="4023360" cy="274320"/>
          </a:xfrm>
          <a:prstGeom prst="rect">
            <a:avLst/>
          </a:prstGeom>
          <a:solidFill>
            <a:srgbClr val="5FA8DC"/>
          </a:solidFill>
          <a:ln/>
        </p:spPr>
      </p:sp>
      <p:sp>
        <p:nvSpPr>
          <p:cNvPr id="10" name="Text 7"/>
          <p:cNvSpPr/>
          <p:nvPr/>
        </p:nvSpPr>
        <p:spPr>
          <a:xfrm>
            <a:off x="2377440" y="3383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Indirect Valuation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0" y="3657600"/>
          <a:ext cx="4023360" cy="914400"/>
        </p:xfrm>
        <a:graphic>
          <a:graphicData uri="http://schemas.openxmlformats.org/drawingml/2006/table">
            <a:tbl>
              <a:tblPr/>
              <a:tblGrid>
                <a:gridCol w="2414016"/>
                <a:gridCol w="1609344"/>
              </a:tblGrid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Metric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EV/EBITDA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ABT EBITDA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$10,470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 Multiple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24.80x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Implied EV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$259,656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Less Debt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$14,754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Less minority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$242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Plus Cash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$7,547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Implied Equity Value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$252,207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Number of shares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1739.9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Implied Share Price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$144.95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949440" y="3383280"/>
            <a:ext cx="3291840" cy="274320"/>
          </a:xfrm>
          <a:prstGeom prst="rect">
            <a:avLst/>
          </a:prstGeom>
          <a:solidFill>
            <a:srgbClr val="5FA8DC"/>
          </a:solidFill>
          <a:ln/>
        </p:spPr>
      </p:sp>
      <p:sp>
        <p:nvSpPr>
          <p:cNvPr id="13" name="Text 9"/>
          <p:cNvSpPr/>
          <p:nvPr/>
        </p:nvSpPr>
        <p:spPr>
          <a:xfrm>
            <a:off x="694944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Valuation</a:t>
            </a:r>
            <a:endParaRPr lang="en-US" sz="12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3657600"/>
          <a:ext cx="3291840" cy="914400"/>
        </p:xfrm>
        <a:graphic>
          <a:graphicData uri="http://schemas.openxmlformats.org/drawingml/2006/table">
            <a:tbl>
              <a:tblPr/>
              <a:tblGrid>
                <a:gridCol w="1975104"/>
                <a:gridCol w="1316736"/>
              </a:tblGrid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Selected Metric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P/BV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Book Value per share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$22.60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 Multiple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4.94x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Implied Share Price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$111.64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640080" y="6473952"/>
            <a:ext cx="10911535" cy="0"/>
          </a:xfrm>
          <a:prstGeom prst="line">
            <a:avLst/>
          </a:prstGeom>
          <a:noFill/>
          <a:ln w="38100">
            <a:solidFill>
              <a:srgbClr val="D0D4D8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93776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17" name="Text 12"/>
          <p:cNvSpPr/>
          <p:nvPr/>
        </p:nvSpPr>
        <p:spPr>
          <a:xfrm>
            <a:off x="493776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-182880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Company/Industry Overview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2676083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20" name="Text 15"/>
          <p:cNvSpPr/>
          <p:nvPr/>
        </p:nvSpPr>
        <p:spPr>
          <a:xfrm>
            <a:off x="2676083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999427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4858390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23" name="Text 18"/>
          <p:cNvSpPr/>
          <p:nvPr/>
        </p:nvSpPr>
        <p:spPr>
          <a:xfrm>
            <a:off x="4858390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181734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 Modeling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7040697" y="6327648"/>
            <a:ext cx="292608" cy="292608"/>
          </a:xfrm>
          <a:prstGeom prst="ellipse">
            <a:avLst/>
          </a:prstGeom>
          <a:solidFill>
            <a:srgbClr val="0089CF"/>
          </a:solidFill>
          <a:ln/>
        </p:spPr>
      </p:sp>
      <p:sp>
        <p:nvSpPr>
          <p:cNvPr id="26" name="Text 21"/>
          <p:cNvSpPr/>
          <p:nvPr/>
        </p:nvSpPr>
        <p:spPr>
          <a:xfrm>
            <a:off x="7040697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364041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Valuations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9223004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29" name="Text 24"/>
          <p:cNvSpPr/>
          <p:nvPr/>
        </p:nvSpPr>
        <p:spPr>
          <a:xfrm>
            <a:off x="9223004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8546348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Mitigants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1405311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32" name="Text 27"/>
          <p:cNvSpPr/>
          <p:nvPr/>
        </p:nvSpPr>
        <p:spPr>
          <a:xfrm>
            <a:off x="11405311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10728655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and Mitigants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84048" y="868680"/>
            <a:ext cx="5669280" cy="0"/>
          </a:xfrm>
          <a:prstGeom prst="line">
            <a:avLst/>
          </a:prstGeom>
          <a:noFill/>
          <a:ln w="31750">
            <a:solidFill>
              <a:srgbClr val="0089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914400"/>
            <a:ext cx="5669280" cy="0"/>
          </a:xfrm>
          <a:prstGeom prst="line">
            <a:avLst/>
          </a:prstGeom>
          <a:noFill/>
          <a:ln w="12700">
            <a:solidFill>
              <a:srgbClr val="0089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0" y="164592"/>
            <a:ext cx="45720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31750">
            <a:solidFill>
              <a:srgbClr val="0089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0" y="10972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0089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292840" y="53035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Abbott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 rot="5400000">
            <a:off x="11868912" y="1371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Sources: 10K and Wolfe 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2286000" cy="502920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097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0" y="1097280"/>
            <a:ext cx="4617720" cy="502920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09728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Description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52360" y="1097280"/>
            <a:ext cx="4343400" cy="502920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14" name="Text 12"/>
          <p:cNvSpPr/>
          <p:nvPr/>
        </p:nvSpPr>
        <p:spPr>
          <a:xfrm>
            <a:off x="7452360" y="10972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1691640"/>
            <a:ext cx="2286000" cy="1417320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691640"/>
            <a:ext cx="2103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Growth Slowdown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0" y="1691640"/>
            <a:ext cx="4617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5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52928" y="1764792"/>
            <a:ext cx="4398264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Intensifying competition with Boston Scientific, Medtronic, J&amp;J could slow growth, specifically in medical devices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Fx pressures (5.6% China sales exposure)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Medicaid defunding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52360" y="1691640"/>
            <a:ext cx="4343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5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2088" y="1764792"/>
            <a:ext cx="4123944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new automated facilities to streamline CGM (Freestyle Libre) manufacturing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Infiltrate the Pulsed-Field Ablation (PFA) systems market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OTC non-diabetes push via Lingo launch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Partnerships with insulin companies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218688"/>
            <a:ext cx="2286000" cy="1234440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18688"/>
            <a:ext cx="2103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 and Market Penetration Failures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0" y="3218688"/>
            <a:ext cx="4617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5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52928" y="3291840"/>
            <a:ext cx="4398264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Sued for misleading nutritional value on infant milk products (~$1.25B–2B loss), yet 60% chance of settlement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of product recalls from quality issues or regulatory non-compliance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52360" y="3218688"/>
            <a:ext cx="4343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5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62088" y="3291840"/>
            <a:ext cx="4123944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Strategically invest more into a robust R&amp;D pipeline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Potentially increase reserve fund for potential settlements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562856"/>
            <a:ext cx="2286000" cy="1234440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562856"/>
            <a:ext cx="2103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Dilution from Acquisitions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0" y="4562856"/>
            <a:ext cx="4617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5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52928" y="4636008"/>
            <a:ext cx="4398264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 Libre with insulins is rising and relies on large acquisitions to gain share in this segment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GLP-1 disruption in CGM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452360" y="4562856"/>
            <a:ext cx="4343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5B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62088" y="4636008"/>
            <a:ext cx="4123944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Tuck-in M&amp;A with insulin companies to grow organically and boost pricing power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Bigfoot Biomedical ($25mm) strengthens diabetes care via insulin delivery + digital health tools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" y="6473952"/>
            <a:ext cx="10911535" cy="0"/>
          </a:xfrm>
          <a:prstGeom prst="line">
            <a:avLst/>
          </a:prstGeom>
          <a:noFill/>
          <a:ln w="38100">
            <a:solidFill>
              <a:srgbClr val="D0D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3776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-182880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Company/Industry Overview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676083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38" name="Text 36"/>
          <p:cNvSpPr/>
          <p:nvPr/>
        </p:nvSpPr>
        <p:spPr>
          <a:xfrm>
            <a:off x="2676083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999427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58390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41" name="Text 39"/>
          <p:cNvSpPr/>
          <p:nvPr/>
        </p:nvSpPr>
        <p:spPr>
          <a:xfrm>
            <a:off x="4858390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181734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 Modeling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040697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44" name="Text 42"/>
          <p:cNvSpPr/>
          <p:nvPr/>
        </p:nvSpPr>
        <p:spPr>
          <a:xfrm>
            <a:off x="7040697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364041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9223004" y="6327648"/>
            <a:ext cx="292608" cy="292608"/>
          </a:xfrm>
          <a:prstGeom prst="ellipse">
            <a:avLst/>
          </a:prstGeom>
          <a:solidFill>
            <a:srgbClr val="0089CF"/>
          </a:solidFill>
          <a:ln/>
        </p:spPr>
      </p:sp>
      <p:sp>
        <p:nvSpPr>
          <p:cNvPr id="47" name="Text 45"/>
          <p:cNvSpPr/>
          <p:nvPr/>
        </p:nvSpPr>
        <p:spPr>
          <a:xfrm>
            <a:off x="9223004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546348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Mitigants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1405311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50" name="Text 48"/>
          <p:cNvSpPr/>
          <p:nvPr/>
        </p:nvSpPr>
        <p:spPr>
          <a:xfrm>
            <a:off x="11405311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728655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84048" y="868680"/>
            <a:ext cx="5669280" cy="0"/>
          </a:xfrm>
          <a:prstGeom prst="line">
            <a:avLst/>
          </a:prstGeom>
          <a:noFill/>
          <a:ln w="31750">
            <a:solidFill>
              <a:srgbClr val="0089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914400"/>
            <a:ext cx="5669280" cy="0"/>
          </a:xfrm>
          <a:prstGeom prst="line">
            <a:avLst/>
          </a:prstGeom>
          <a:noFill/>
          <a:ln w="12700">
            <a:solidFill>
              <a:srgbClr val="0089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0" y="164592"/>
            <a:ext cx="45720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31750">
            <a:solidFill>
              <a:srgbClr val="0089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0" y="10972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0089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292840" y="53035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Abbott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recommend a </a:t>
            </a:r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</a:t>
            </a:r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with a 2-year target price of </a:t>
            </a:r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$121.61</a:t>
            </a:r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(32.5% upside)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5120640" cy="384048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3736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 Weighting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286000"/>
          <a:ext cx="4023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Method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A8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Target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A8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Weight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A8D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Direct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$111.64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Indirect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$144.95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DCF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$114.92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Blended Target Price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$121.61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100%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126480" y="1737360"/>
            <a:ext cx="5486400" cy="384048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17373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Street Estimates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04088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41832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$ 160.00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040880" y="2715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418320" y="27157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$ 135.00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040880" y="30998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418320" y="30998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$ 117.00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040880" y="34838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418320" y="34838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$ 137.48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040880" y="38679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Price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418320" y="3867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$ 140.22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65760" y="4343400"/>
            <a:ext cx="11430000" cy="384048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26" name="Text 23"/>
          <p:cNvSpPr/>
          <p:nvPr/>
        </p:nvSpPr>
        <p:spPr>
          <a:xfrm>
            <a:off x="365760" y="4343400"/>
            <a:ext cx="11430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 Recap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57200" y="489204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4360" y="49834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and Rapidly Growing Addressable Market for Libre </a:t>
            </a:r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 help Abbott capitalize off this opportunity.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270248" y="489204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C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407408" y="49834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Financials and Earnings </a:t>
            </a:r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Despite macroeconomic headwinds and increasing competition, performance shows Abbott's strength and ability to perform during unpredictable times.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8083296" y="489204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C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20456" y="49834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Abbott's Expansion into Medical Device and Insulin Market </a:t>
            </a:r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 help Abbott gain market share in PFA systems and dominance in diabetes treatment and monitoring.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40080" y="6473952"/>
            <a:ext cx="10911535" cy="0"/>
          </a:xfrm>
          <a:prstGeom prst="line">
            <a:avLst/>
          </a:prstGeom>
          <a:noFill/>
          <a:ln w="38100">
            <a:solidFill>
              <a:srgbClr val="D0D4D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93776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35" name="Text 32"/>
          <p:cNvSpPr/>
          <p:nvPr/>
        </p:nvSpPr>
        <p:spPr>
          <a:xfrm>
            <a:off x="493776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-182880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Company/Industry Overview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2676083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38" name="Text 35"/>
          <p:cNvSpPr/>
          <p:nvPr/>
        </p:nvSpPr>
        <p:spPr>
          <a:xfrm>
            <a:off x="2676083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999427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858390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41" name="Text 38"/>
          <p:cNvSpPr/>
          <p:nvPr/>
        </p:nvSpPr>
        <p:spPr>
          <a:xfrm>
            <a:off x="4858390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181734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 Modeling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7040697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44" name="Text 41"/>
          <p:cNvSpPr/>
          <p:nvPr/>
        </p:nvSpPr>
        <p:spPr>
          <a:xfrm>
            <a:off x="7040697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364041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Valuations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9223004" y="6327648"/>
            <a:ext cx="292608" cy="292608"/>
          </a:xfrm>
          <a:prstGeom prst="ellipse">
            <a:avLst/>
          </a:prstGeom>
          <a:solidFill>
            <a:srgbClr val="D0D4D8"/>
          </a:solidFill>
          <a:ln/>
        </p:spPr>
      </p:sp>
      <p:sp>
        <p:nvSpPr>
          <p:cNvPr id="47" name="Text 44"/>
          <p:cNvSpPr/>
          <p:nvPr/>
        </p:nvSpPr>
        <p:spPr>
          <a:xfrm>
            <a:off x="9223004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8546348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Mitigants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11405311" y="6327648"/>
            <a:ext cx="292608" cy="292608"/>
          </a:xfrm>
          <a:prstGeom prst="ellipse">
            <a:avLst/>
          </a:prstGeom>
          <a:solidFill>
            <a:srgbClr val="0089CF"/>
          </a:solidFill>
          <a:ln/>
        </p:spPr>
      </p:sp>
      <p:sp>
        <p:nvSpPr>
          <p:cNvPr id="50" name="Text 47"/>
          <p:cNvSpPr/>
          <p:nvPr/>
        </p:nvSpPr>
        <p:spPr>
          <a:xfrm>
            <a:off x="11405311" y="6327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10728655" y="6665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2026-07-21T04:00:11Z</dcterms:created>
  <dcterms:modified xsi:type="dcterms:W3CDTF">2026-07-21T04:00:11Z</dcterms:modified>
</cp:coreProperties>
</file>