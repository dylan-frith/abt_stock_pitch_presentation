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Segment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089CF"/>
              </a:solidFill>
              <a:effectLst/>
            </c:spPr>
          </c:dPt>
          <c:dPt>
            <c:idx val="1"/>
            <c:bubble3D val="0"/>
            <c:spPr>
              <a:solidFill>
                <a:srgbClr val="5FA8DC"/>
              </a:solidFill>
              <a:effectLst/>
            </c:spPr>
          </c:dPt>
          <c:dPt>
            <c:idx val="2"/>
            <c:bubble3D val="0"/>
            <c:spPr>
              <a:solidFill>
                <a:srgbClr val="AFCDEA"/>
              </a:solidFill>
              <a:effectLst/>
            </c:spPr>
          </c:dPt>
          <c:dPt>
            <c:idx val="3"/>
            <c:bubble3D val="0"/>
            <c:spPr>
              <a:solidFill>
                <a:srgbClr val="0B2E4F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8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8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8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8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Nutrition</c:v>
                </c:pt>
                <c:pt idx="1">
                  <c:v>Diagnostics</c:v>
                </c:pt>
                <c:pt idx="2">
                  <c:v>Established Pharmaceuticals</c:v>
                </c:pt>
                <c:pt idx="3">
                  <c:v>Medical Devices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20</c:v>
                </c:pt>
                <c:pt idx="1">
                  <c:v>25</c:v>
                </c:pt>
                <c:pt idx="2">
                  <c:v>13</c:v>
                </c:pt>
                <c:pt idx="3">
                  <c:v>42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Nutrition</c:v>
                </c:pt>
              </c:strCache>
            </c:strRef>
          </c:tx>
          <c:spPr>
            <a:solidFill>
              <a:srgbClr val="0089C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2023</c:v>
                  </c:pt>
                  <c:pt idx="1">
                    <c:v>2024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8000</c:v>
                </c:pt>
                <c:pt idx="1">
                  <c:v>8400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Diagnostics</c:v>
                </c:pt>
              </c:strCache>
            </c:strRef>
          </c:tx>
          <c:spPr>
            <a:solidFill>
              <a:srgbClr val="5FA8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2023</c:v>
                  </c:pt>
                  <c:pt idx="1">
                    <c:v>2024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10000</c:v>
                </c:pt>
                <c:pt idx="1">
                  <c:v>10500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Established Pharmaceuticals</c:v>
                </c:pt>
              </c:strCache>
            </c:strRef>
          </c:tx>
          <c:spPr>
            <a:solidFill>
              <a:srgbClr val="AFCDE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2023</c:v>
                  </c:pt>
                  <c:pt idx="1">
                    <c:v>2024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5200</c:v>
                </c:pt>
                <c:pt idx="1">
                  <c:v>5450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Medical Devices</c:v>
                </c:pt>
              </c:strCache>
            </c:strRef>
          </c:tx>
          <c:spPr>
            <a:solidFill>
              <a:srgbClr val="0B2E4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2023</c:v>
                  </c:pt>
                  <c:pt idx="1">
                    <c:v>2024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16909</c:v>
                </c:pt>
                <c:pt idx="1">
                  <c:v>17600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000"/>
          <c:min val="0"/>
        </c:scaling>
        <c:delete val="0"/>
        <c:axPos val="l"/>
        <c:majorGridlines>
          <c:spPr>
            <a:ln w="12700" cap="flat">
              <a:solidFill>
                <a:srgbClr val="E6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000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Freestyle Libre Users</c:v>
                </c:pt>
              </c:strCache>
            </c:strRef>
          </c:tx>
          <c:spPr>
            <a:solidFill>
              <a:srgbClr val="0089C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2020</c:v>
                  </c:pt>
                  <c:pt idx="1">
                    <c:v>2021</c:v>
                  </c:pt>
                  <c:pt idx="2">
                    <c:v>2022</c:v>
                  </c:pt>
                  <c:pt idx="3">
                    <c:v>2023</c:v>
                  </c:pt>
                  <c:pt idx="4">
                    <c:v>2024</c:v>
                  </c:pt>
                  <c:pt idx="5">
                    <c:v>2025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2750</c:v>
                </c:pt>
                <c:pt idx="1">
                  <c:v>3800</c:v>
                </c:pt>
                <c:pt idx="2">
                  <c:v>4600</c:v>
                </c:pt>
                <c:pt idx="3">
                  <c:v>5600</c:v>
                </c:pt>
                <c:pt idx="4">
                  <c:v>6800</c:v>
                </c:pt>
                <c:pt idx="5">
                  <c:v>7600</c:v>
                </c:pt>
                <c:pt idx="6">
                  <c:v>8700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00"/>
        </c:scaling>
        <c:delete val="0"/>
        <c:axPos val="l"/>
        <c:majorGridlines>
          <c:spPr>
            <a:ln w="12700" cap="flat">
              <a:solidFill>
                <a:srgbClr val="EDEDED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1A1A1A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1A1A1A"/>
                    </a:solidFill>
                    <a:latin typeface="Arial"/>
                  </a:rPr>
                  <a:t>Freestyle Libre Users in millions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Cambria"/>
              </a:defRPr>
            </a:pPr>
            <a:r>
              <a:rPr sz="1200" b="0" i="0" u="none" strike="noStrike">
                <a:solidFill>
                  <a:srgbClr val="1A1A1A"/>
                </a:solidFill>
                <a:latin typeface="Cambria"/>
              </a:rPr>
              <a:t>ABT EBIT to Relative Peers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ABT</c:v>
                </c:pt>
              </c:strCache>
            </c:strRef>
          </c:tx>
          <c:spPr>
            <a:solidFill>
              <a:srgbClr val="0089CF"/>
            </a:solidFill>
            <a:ln w="25400" cap="flat">
              <a:solidFill>
                <a:srgbClr val="0089C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89CF"/>
              </a:solidFill>
              <a:ln w="9525" cap="flat">
                <a:solidFill>
                  <a:srgbClr val="0089C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2024</c:v>
                  </c:pt>
                  <c:pt idx="1">
                    <c:v>2025</c:v>
                  </c:pt>
                  <c:pt idx="2">
                    <c:v>2026</c:v>
                  </c:pt>
                  <c:pt idx="3">
                    <c:v>2027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9200</c:v>
                </c:pt>
                <c:pt idx="1">
                  <c:v>10100</c:v>
                </c:pt>
                <c:pt idx="2">
                  <c:v>11200</c:v>
                </c:pt>
                <c:pt idx="3">
                  <c:v>12200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Average</c:v>
                </c:pt>
              </c:strCache>
            </c:strRef>
          </c:tx>
          <c:spPr>
            <a:solidFill>
              <a:srgbClr val="6B7280"/>
            </a:solidFill>
            <a:ln w="25400" cap="flat">
              <a:solidFill>
                <a:srgbClr val="6B728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6B7280"/>
              </a:solidFill>
              <a:ln w="9525" cap="flat">
                <a:solidFill>
                  <a:srgbClr val="6B728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2024</c:v>
                  </c:pt>
                  <c:pt idx="1">
                    <c:v>2025</c:v>
                  </c:pt>
                  <c:pt idx="2">
                    <c:v>2026</c:v>
                  </c:pt>
                  <c:pt idx="3">
                    <c:v>2027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7300</c:v>
                </c:pt>
                <c:pt idx="1">
                  <c:v>8000</c:v>
                </c:pt>
                <c:pt idx="2">
                  <c:v>8700</c:v>
                </c:pt>
                <c:pt idx="3">
                  <c:v>9400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000"/>
        </c:scaling>
        <c:delete val="0"/>
        <c:axPos val="l"/>
        <c:majorGridlines>
          <c:spPr>
            <a:ln w="12700" cap="flat">
              <a:solidFill>
                <a:srgbClr val="EDED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1828800"/>
            <a:ext cx="5486400" cy="5486400"/>
          </a:xfrm>
          <a:prstGeom prst="arc">
            <a:avLst>
              <a:gd name="adj1" fmla="val 1200000"/>
              <a:gd name="adj2" fmla="val 9600000"/>
            </a:avLst>
          </a:prstGeom>
          <a:ln w="12700">
            <a:solidFill>
              <a:srgbClr val="DDE3E8"/>
            </a:solidFill>
            <a:prstDash val="dash"/>
          </a:ln>
        </p:spPr>
      </p:sp>
      <p:sp>
        <p:nvSpPr>
          <p:cNvPr id="3" name="Shape 1"/>
          <p:cNvSpPr/>
          <p:nvPr/>
        </p:nvSpPr>
        <p:spPr>
          <a:xfrm>
            <a:off x="-1691640" y="-1554480"/>
            <a:ext cx="5120640" cy="5120640"/>
          </a:xfrm>
          <a:prstGeom prst="arc">
            <a:avLst>
              <a:gd name="adj1" fmla="val 1200000"/>
              <a:gd name="adj2" fmla="val 9600000"/>
            </a:avLst>
          </a:prstGeom>
          <a:ln w="12700">
            <a:solidFill>
              <a:srgbClr val="DDE3E8"/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-1371600" y="-1280160"/>
            <a:ext cx="4754880" cy="4754880"/>
          </a:xfrm>
          <a:prstGeom prst="arc">
            <a:avLst>
              <a:gd name="adj1" fmla="val 1200000"/>
              <a:gd name="adj2" fmla="val 9600000"/>
            </a:avLst>
          </a:prstGeom>
          <a:ln w="12700">
            <a:solidFill>
              <a:srgbClr val="DDE3E8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-1051560" y="-1005840"/>
            <a:ext cx="4389120" cy="4389120"/>
          </a:xfrm>
          <a:prstGeom prst="arc">
            <a:avLst>
              <a:gd name="adj1" fmla="val 1200000"/>
              <a:gd name="adj2" fmla="val 9600000"/>
            </a:avLst>
          </a:prstGeom>
          <a:ln w="12700">
            <a:solidFill>
              <a:srgbClr val="DDE3E8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-731520" y="-731520"/>
            <a:ext cx="4023360" cy="4023360"/>
          </a:xfrm>
          <a:prstGeom prst="arc">
            <a:avLst>
              <a:gd name="adj1" fmla="val 1200000"/>
              <a:gd name="adj2" fmla="val 9600000"/>
            </a:avLst>
          </a:prstGeom>
          <a:ln w="12700">
            <a:solidFill>
              <a:srgbClr val="DDE3E8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-411480" y="-457200"/>
            <a:ext cx="3657600" cy="3657600"/>
          </a:xfrm>
          <a:prstGeom prst="arc">
            <a:avLst>
              <a:gd name="adj1" fmla="val 1200000"/>
              <a:gd name="adj2" fmla="val 9600000"/>
            </a:avLst>
          </a:prstGeom>
          <a:ln w="12700">
            <a:solidFill>
              <a:srgbClr val="DDE3E8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1737360" y="1828800"/>
            <a:ext cx="1737360" cy="1463040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177800">
            <a:solidFill>
              <a:srgbClr val="0089C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37360" y="1691640"/>
            <a:ext cx="17373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i="1" dirty="0">
                <a:solidFill>
                  <a:srgbClr val="0089C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9600" dirty="0"/>
          </a:p>
        </p:txBody>
      </p:sp>
      <p:sp>
        <p:nvSpPr>
          <p:cNvPr id="10" name="Text 8"/>
          <p:cNvSpPr/>
          <p:nvPr/>
        </p:nvSpPr>
        <p:spPr>
          <a:xfrm>
            <a:off x="3657600" y="1874520"/>
            <a:ext cx="6858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800" b="1" dirty="0">
                <a:solidFill>
                  <a:srgbClr val="1A1A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Abbott</a:t>
            </a:r>
            <a:endParaRPr lang="en-US" sz="8800" dirty="0"/>
          </a:p>
        </p:txBody>
      </p:sp>
      <p:sp>
        <p:nvSpPr>
          <p:cNvPr id="11" name="Text 9"/>
          <p:cNvSpPr/>
          <p:nvPr/>
        </p:nvSpPr>
        <p:spPr>
          <a:xfrm>
            <a:off x="1737360" y="37033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Investment Recommendation of $121.61 (32.5% Upside)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737360" y="42062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Dylan Frith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737360" y="461772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3/5/25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Table of Contents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384048" y="868680"/>
            <a:ext cx="5669280" cy="0"/>
          </a:xfrm>
          <a:prstGeom prst="line">
            <a:avLst/>
          </a:prstGeom>
          <a:noFill/>
          <a:ln w="31750">
            <a:solidFill>
              <a:srgbClr val="0089C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84048" y="914400"/>
            <a:ext cx="5669280" cy="0"/>
          </a:xfrm>
          <a:prstGeom prst="line">
            <a:avLst/>
          </a:prstGeom>
          <a:noFill/>
          <a:ln w="12700">
            <a:solidFill>
              <a:srgbClr val="0089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30000" y="164592"/>
            <a:ext cx="45720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31750">
            <a:solidFill>
              <a:srgbClr val="0089C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0" y="109728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rgbClr val="0089C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1292840" y="530352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Abbott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914400" y="15544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1)  Company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914400" y="2212848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2)  Investment Thesis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914400" y="2871216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3)  Financial Statement Modeling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914400" y="3529584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4)  Valuations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14400" y="4187952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5)  Risk / Mitigations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914400" y="4846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6)  Recommendation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Company Overview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384048" y="868680"/>
            <a:ext cx="5669280" cy="0"/>
          </a:xfrm>
          <a:prstGeom prst="line">
            <a:avLst/>
          </a:prstGeom>
          <a:noFill/>
          <a:ln w="31750">
            <a:solidFill>
              <a:srgbClr val="0089C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84048" y="914400"/>
            <a:ext cx="5669280" cy="0"/>
          </a:xfrm>
          <a:prstGeom prst="line">
            <a:avLst/>
          </a:prstGeom>
          <a:noFill/>
          <a:ln w="12700">
            <a:solidFill>
              <a:srgbClr val="0089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30000" y="164592"/>
            <a:ext cx="45720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31750">
            <a:solidFill>
              <a:srgbClr val="0089C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0" y="109728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rgbClr val="0089C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1292840" y="530352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Abbott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 rot="5400000">
            <a:off x="11868912" y="137160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Sources: Capital IQ, Wolfe Research and 10K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1143000"/>
            <a:ext cx="5394960" cy="384048"/>
          </a:xfrm>
          <a:prstGeom prst="rect">
            <a:avLst/>
          </a:prstGeom>
          <a:solidFill>
            <a:srgbClr val="1B75BC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1143000"/>
            <a:ext cx="5394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Description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65760" y="1600200"/>
            <a:ext cx="53949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Abbott Laboratories (NYSE: ABT): </a:t>
            </a:r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a healthcare company that discovers, manufactures, and sells a broad and diversified line of health care products and services in 160 countries.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" y="2377440"/>
            <a:ext cx="5394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company's products include pharmaceuticals, nutritional, diagnostics, and vascular products. Abbott markets its products worldwide through affiliates.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" y="306324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Abbott Laboratories main competition includes: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33832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–"/>
            </a:pPr>
            <a:r>
              <a:rPr lang="en-US" sz="12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Johnson and Johnson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36576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–"/>
            </a:pPr>
            <a:r>
              <a:rPr lang="en-US" sz="12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Boston Scientific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39319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–"/>
            </a:pPr>
            <a:r>
              <a:rPr lang="en-US" sz="12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Medtronic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65760" y="429768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By Segment</a:t>
            </a:r>
            <a:endParaRPr lang="en-US" sz="13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1280160" y="4526280"/>
          <a:ext cx="3291840" cy="1554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6035040" y="1143000"/>
            <a:ext cx="5760720" cy="384048"/>
          </a:xfrm>
          <a:prstGeom prst="rect">
            <a:avLst/>
          </a:prstGeom>
          <a:solidFill>
            <a:srgbClr val="1B75BC"/>
          </a:solidFill>
          <a:ln/>
        </p:spPr>
      </p:sp>
      <p:sp>
        <p:nvSpPr>
          <p:cNvPr id="20" name="Text 17"/>
          <p:cNvSpPr/>
          <p:nvPr/>
        </p:nvSpPr>
        <p:spPr>
          <a:xfrm>
            <a:off x="6035040" y="1143000"/>
            <a:ext cx="5760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Financial Overview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1600200"/>
          <a:ext cx="55778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143000"/>
                <a:gridCol w="1554480"/>
                <a:gridCol w="548640"/>
                <a:gridCol w="594360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Trading Statistics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Financial Results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2024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2023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Share price as of 3/5/2024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$137.79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Organic Sales Growth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7.1%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-6.20%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$99.71 - $140.84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 Week Range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Diabetes Revenue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6,805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5,761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YTD Change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23.97%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Diagnostics Revenue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585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565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Mkt Cap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243.2B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Dividend Yield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1.71%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2" name="Shape 18"/>
          <p:cNvSpPr/>
          <p:nvPr/>
        </p:nvSpPr>
        <p:spPr>
          <a:xfrm>
            <a:off x="9006840" y="1627632"/>
            <a:ext cx="0" cy="128016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035040" y="3429000"/>
            <a:ext cx="5760720" cy="384048"/>
          </a:xfrm>
          <a:prstGeom prst="rect">
            <a:avLst/>
          </a:prstGeom>
          <a:solidFill>
            <a:srgbClr val="1B75BC"/>
          </a:solidFill>
          <a:ln/>
        </p:spPr>
      </p:sp>
      <p:sp>
        <p:nvSpPr>
          <p:cNvPr id="24" name="Text 20"/>
          <p:cNvSpPr/>
          <p:nvPr/>
        </p:nvSpPr>
        <p:spPr>
          <a:xfrm>
            <a:off x="6035040" y="3429000"/>
            <a:ext cx="5760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Growth</a:t>
            </a:r>
            <a:endParaRPr lang="en-US" sz="1500" dirty="0"/>
          </a:p>
        </p:txBody>
      </p:sp>
      <p:graphicFrame>
        <p:nvGraphicFramePr>
          <p:cNvPr id="25" name="Chart 1" descr=""/>
          <p:cNvGraphicFramePr/>
          <p:nvPr/>
        </p:nvGraphicFramePr>
        <p:xfrm>
          <a:off x="6309360" y="3931920"/>
          <a:ext cx="539496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6" name="Text 21"/>
          <p:cNvSpPr/>
          <p:nvPr/>
        </p:nvSpPr>
        <p:spPr>
          <a:xfrm>
            <a:off x="6903720" y="4023360"/>
            <a:ext cx="1188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$40,109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9646920" y="3968496"/>
            <a:ext cx="1188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$41,950</a:t>
            </a:r>
            <a:endParaRPr lang="en-US" sz="1000" dirty="0"/>
          </a:p>
        </p:txBody>
      </p:sp>
      <p:sp>
        <p:nvSpPr>
          <p:cNvPr id="28" name="Shape 23"/>
          <p:cNvSpPr/>
          <p:nvPr/>
        </p:nvSpPr>
        <p:spPr>
          <a:xfrm>
            <a:off x="8366760" y="4617720"/>
            <a:ext cx="1371600" cy="-457200"/>
          </a:xfrm>
          <a:prstGeom prst="line">
            <a:avLst/>
          </a:prstGeom>
          <a:noFill/>
          <a:ln w="31750">
            <a:solidFill>
              <a:srgbClr val="22A06B"/>
            </a:solidFill>
            <a:prstDash val="solid"/>
            <a:headEnd type="none"/>
            <a:tailEnd type="triangle"/>
          </a:ln>
        </p:spPr>
      </p:sp>
      <p:sp>
        <p:nvSpPr>
          <p:cNvPr id="29" name="Text 24"/>
          <p:cNvSpPr/>
          <p:nvPr/>
        </p:nvSpPr>
        <p:spPr>
          <a:xfrm>
            <a:off x="8503920" y="4041648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A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+ 5%</a:t>
            </a:r>
            <a:endParaRPr lang="en-US" sz="1200" dirty="0"/>
          </a:p>
        </p:txBody>
      </p:sp>
      <p:sp>
        <p:nvSpPr>
          <p:cNvPr id="30" name="Text 25"/>
          <p:cNvSpPr/>
          <p:nvPr/>
        </p:nvSpPr>
        <p:spPr>
          <a:xfrm>
            <a:off x="6309360" y="594360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$US mm</a:t>
            </a:r>
            <a:endParaRPr lang="en-US" sz="900" dirty="0"/>
          </a:p>
        </p:txBody>
      </p:sp>
      <p:sp>
        <p:nvSpPr>
          <p:cNvPr id="31" name="Shape 26"/>
          <p:cNvSpPr/>
          <p:nvPr/>
        </p:nvSpPr>
        <p:spPr>
          <a:xfrm>
            <a:off x="640080" y="6473952"/>
            <a:ext cx="10911535" cy="0"/>
          </a:xfrm>
          <a:prstGeom prst="line">
            <a:avLst/>
          </a:prstGeom>
          <a:noFill/>
          <a:ln w="38100">
            <a:solidFill>
              <a:srgbClr val="D0D4D8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493776" y="6327648"/>
            <a:ext cx="292608" cy="292608"/>
          </a:xfrm>
          <a:prstGeom prst="ellipse">
            <a:avLst/>
          </a:prstGeom>
          <a:solidFill>
            <a:srgbClr val="0089CF"/>
          </a:solidFill>
          <a:ln/>
        </p:spPr>
      </p:sp>
      <p:sp>
        <p:nvSpPr>
          <p:cNvPr id="33" name="Text 28"/>
          <p:cNvSpPr/>
          <p:nvPr/>
        </p:nvSpPr>
        <p:spPr>
          <a:xfrm>
            <a:off x="493776" y="63276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34" name="Text 29"/>
          <p:cNvSpPr/>
          <p:nvPr/>
        </p:nvSpPr>
        <p:spPr>
          <a:xfrm>
            <a:off x="-182880" y="6665976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Company/Industry Overview</a:t>
            </a:r>
            <a:endParaRPr lang="en-US" sz="800" dirty="0"/>
          </a:p>
        </p:txBody>
      </p:sp>
      <p:sp>
        <p:nvSpPr>
          <p:cNvPr id="35" name="Shape 30"/>
          <p:cNvSpPr/>
          <p:nvPr/>
        </p:nvSpPr>
        <p:spPr>
          <a:xfrm>
            <a:off x="2676083" y="6327648"/>
            <a:ext cx="292608" cy="292608"/>
          </a:xfrm>
          <a:prstGeom prst="ellipse">
            <a:avLst/>
          </a:prstGeom>
          <a:solidFill>
            <a:srgbClr val="D0D4D8"/>
          </a:solidFill>
          <a:ln/>
        </p:spPr>
      </p:sp>
      <p:sp>
        <p:nvSpPr>
          <p:cNvPr id="36" name="Text 31"/>
          <p:cNvSpPr/>
          <p:nvPr/>
        </p:nvSpPr>
        <p:spPr>
          <a:xfrm>
            <a:off x="2676083" y="63276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37" name="Text 32"/>
          <p:cNvSpPr/>
          <p:nvPr/>
        </p:nvSpPr>
        <p:spPr>
          <a:xfrm>
            <a:off x="1999427" y="6665976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Thesis</a:t>
            </a:r>
            <a:endParaRPr lang="en-US" sz="800" dirty="0"/>
          </a:p>
        </p:txBody>
      </p:sp>
      <p:sp>
        <p:nvSpPr>
          <p:cNvPr id="38" name="Shape 33"/>
          <p:cNvSpPr/>
          <p:nvPr/>
        </p:nvSpPr>
        <p:spPr>
          <a:xfrm>
            <a:off x="4858390" y="6327648"/>
            <a:ext cx="292608" cy="292608"/>
          </a:xfrm>
          <a:prstGeom prst="ellipse">
            <a:avLst/>
          </a:prstGeom>
          <a:solidFill>
            <a:srgbClr val="D0D4D8"/>
          </a:solidFill>
          <a:ln/>
        </p:spPr>
      </p:sp>
      <p:sp>
        <p:nvSpPr>
          <p:cNvPr id="39" name="Text 34"/>
          <p:cNvSpPr/>
          <p:nvPr/>
        </p:nvSpPr>
        <p:spPr>
          <a:xfrm>
            <a:off x="4858390" y="63276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40" name="Text 35"/>
          <p:cNvSpPr/>
          <p:nvPr/>
        </p:nvSpPr>
        <p:spPr>
          <a:xfrm>
            <a:off x="4181734" y="6665976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Statement Modeling</a:t>
            </a:r>
            <a:endParaRPr lang="en-US" sz="800" dirty="0"/>
          </a:p>
        </p:txBody>
      </p:sp>
      <p:sp>
        <p:nvSpPr>
          <p:cNvPr id="41" name="Shape 36"/>
          <p:cNvSpPr/>
          <p:nvPr/>
        </p:nvSpPr>
        <p:spPr>
          <a:xfrm>
            <a:off x="7040697" y="6327648"/>
            <a:ext cx="292608" cy="292608"/>
          </a:xfrm>
          <a:prstGeom prst="ellipse">
            <a:avLst/>
          </a:prstGeom>
          <a:solidFill>
            <a:srgbClr val="D0D4D8"/>
          </a:solidFill>
          <a:ln/>
        </p:spPr>
      </p:sp>
      <p:sp>
        <p:nvSpPr>
          <p:cNvPr id="42" name="Text 37"/>
          <p:cNvSpPr/>
          <p:nvPr/>
        </p:nvSpPr>
        <p:spPr>
          <a:xfrm>
            <a:off x="7040697" y="63276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43" name="Text 38"/>
          <p:cNvSpPr/>
          <p:nvPr/>
        </p:nvSpPr>
        <p:spPr>
          <a:xfrm>
            <a:off x="6364041" y="6665976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Valuations</a:t>
            </a:r>
            <a:endParaRPr lang="en-US" sz="800" dirty="0"/>
          </a:p>
        </p:txBody>
      </p:sp>
      <p:sp>
        <p:nvSpPr>
          <p:cNvPr id="44" name="Shape 39"/>
          <p:cNvSpPr/>
          <p:nvPr/>
        </p:nvSpPr>
        <p:spPr>
          <a:xfrm>
            <a:off x="9223004" y="6327648"/>
            <a:ext cx="292608" cy="292608"/>
          </a:xfrm>
          <a:prstGeom prst="ellipse">
            <a:avLst/>
          </a:prstGeom>
          <a:solidFill>
            <a:srgbClr val="D0D4D8"/>
          </a:solidFill>
          <a:ln/>
        </p:spPr>
      </p:sp>
      <p:sp>
        <p:nvSpPr>
          <p:cNvPr id="45" name="Text 40"/>
          <p:cNvSpPr/>
          <p:nvPr/>
        </p:nvSpPr>
        <p:spPr>
          <a:xfrm>
            <a:off x="9223004" y="63276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6" name="Text 41"/>
          <p:cNvSpPr/>
          <p:nvPr/>
        </p:nvSpPr>
        <p:spPr>
          <a:xfrm>
            <a:off x="8546348" y="6665976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/ Mitigants</a:t>
            </a:r>
            <a:endParaRPr lang="en-US" sz="800" dirty="0"/>
          </a:p>
        </p:txBody>
      </p:sp>
      <p:sp>
        <p:nvSpPr>
          <p:cNvPr id="47" name="Shape 42"/>
          <p:cNvSpPr/>
          <p:nvPr/>
        </p:nvSpPr>
        <p:spPr>
          <a:xfrm>
            <a:off x="11405311" y="6327648"/>
            <a:ext cx="292608" cy="292608"/>
          </a:xfrm>
          <a:prstGeom prst="ellipse">
            <a:avLst/>
          </a:prstGeom>
          <a:solidFill>
            <a:srgbClr val="D0D4D8"/>
          </a:solidFill>
          <a:ln/>
        </p:spPr>
      </p:sp>
      <p:sp>
        <p:nvSpPr>
          <p:cNvPr id="48" name="Text 43"/>
          <p:cNvSpPr/>
          <p:nvPr/>
        </p:nvSpPr>
        <p:spPr>
          <a:xfrm>
            <a:off x="11405311" y="63276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49" name="Text 44"/>
          <p:cNvSpPr/>
          <p:nvPr/>
        </p:nvSpPr>
        <p:spPr>
          <a:xfrm>
            <a:off x="10728655" y="6665976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Investment Thesis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384048" y="868680"/>
            <a:ext cx="5669280" cy="0"/>
          </a:xfrm>
          <a:prstGeom prst="line">
            <a:avLst/>
          </a:prstGeom>
          <a:noFill/>
          <a:ln w="31750">
            <a:solidFill>
              <a:srgbClr val="0089C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84048" y="914400"/>
            <a:ext cx="5669280" cy="0"/>
          </a:xfrm>
          <a:prstGeom prst="line">
            <a:avLst/>
          </a:prstGeom>
          <a:noFill/>
          <a:ln w="12700">
            <a:solidFill>
              <a:srgbClr val="0089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30000" y="164592"/>
            <a:ext cx="45720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31750">
            <a:solidFill>
              <a:srgbClr val="0089C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0" y="109728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rgbClr val="0089C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1292840" y="530352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Abbott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 rot="5400000">
            <a:off x="11868912" y="137160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Sources: Wolfe Research, Capital IQ and Bloomberg</a:t>
            </a:r>
            <a:endParaRPr lang="en-US" sz="9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1280160" y="1051560"/>
          <a:ext cx="8595360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 rot="360000">
            <a:off x="5486400" y="11430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CAGR 19.4%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206240" y="1783080"/>
            <a:ext cx="3291840" cy="-50292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365760" y="3063240"/>
            <a:ext cx="114300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89C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" y="30632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healthcare market is experiencing strong demand for Libre devices, leading growth back to pre-pandemic levels, headed for continued growth in a large addressable market.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65760" y="3703320"/>
            <a:ext cx="3703320" cy="384048"/>
          </a:xfrm>
          <a:prstGeom prst="rect">
            <a:avLst/>
          </a:prstGeom>
          <a:solidFill>
            <a:srgbClr val="1B75BC"/>
          </a:solidFill>
          <a:ln/>
        </p:spPr>
      </p:sp>
      <p:sp>
        <p:nvSpPr>
          <p:cNvPr id="15" name="Text 12"/>
          <p:cNvSpPr/>
          <p:nvPr/>
        </p:nvSpPr>
        <p:spPr>
          <a:xfrm>
            <a:off x="365760" y="3703320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Libre (CGM) Performance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11480" y="4160520"/>
            <a:ext cx="3611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Libre Continuous Glucose Monitor (CGM) sales surged 22.8% in 2024</a:t>
            </a:r>
            <a:endParaRPr lang="en-US" sz="1050" dirty="0"/>
          </a:p>
          <a:p>
            <a:pPr algn="l"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 for Libre products is growing at a 19.4% CAGR</a:t>
            </a:r>
            <a:endParaRPr lang="en-US" sz="1050" dirty="0"/>
          </a:p>
          <a:p>
            <a:pPr algn="l"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Abbott built the highest-producing automated facility for Libre products during Q4 2024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251960" y="3703320"/>
            <a:ext cx="3703320" cy="384048"/>
          </a:xfrm>
          <a:prstGeom prst="rect">
            <a:avLst/>
          </a:prstGeom>
          <a:solidFill>
            <a:srgbClr val="1B75BC"/>
          </a:solidFill>
          <a:ln/>
        </p:spPr>
      </p:sp>
      <p:sp>
        <p:nvSpPr>
          <p:cNvPr id="18" name="Text 15"/>
          <p:cNvSpPr/>
          <p:nvPr/>
        </p:nvSpPr>
        <p:spPr>
          <a:xfrm>
            <a:off x="4251960" y="3703320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Strong Financial Performance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297680" y="4160520"/>
            <a:ext cx="3611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Q4 2024, Abbott reported a 7.2% increase in sales, totaling $10.97 billion</a:t>
            </a:r>
            <a:endParaRPr lang="en-US" sz="1050" dirty="0"/>
          </a:p>
          <a:p>
            <a:pPr algn="l"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Gross margin finished 2024 at 56.2%, 340 bps below the pre-pandemic peak of 59.6%</a:t>
            </a:r>
            <a:endParaRPr lang="en-US" sz="1050" dirty="0"/>
          </a:p>
          <a:p>
            <a:pPr algn="l"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Organic growth sales (ex-Covid tests) grew 10.1%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8138160" y="3703320"/>
            <a:ext cx="3657600" cy="384048"/>
          </a:xfrm>
          <a:prstGeom prst="rect">
            <a:avLst/>
          </a:prstGeom>
          <a:solidFill>
            <a:srgbClr val="1B75BC"/>
          </a:solidFill>
          <a:ln/>
        </p:spPr>
      </p:sp>
      <p:sp>
        <p:nvSpPr>
          <p:cNvPr id="21" name="Text 18"/>
          <p:cNvSpPr/>
          <p:nvPr/>
        </p:nvSpPr>
        <p:spPr>
          <a:xfrm>
            <a:off x="8138160" y="3703320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Opportunities for Expansion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8183880" y="4160520"/>
            <a:ext cx="35661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Under-penetration in the intensive insulin-using segment (~25% of U.S., ~50% intl. not on CGM)</a:t>
            </a:r>
            <a:endParaRPr lang="en-US" sz="1050" dirty="0"/>
          </a:p>
          <a:p>
            <a:pPr algn="l"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Partnerships / integrate Bigfoot Biomedical insulin delivery with CGM</a:t>
            </a:r>
            <a:endParaRPr lang="en-US" sz="1050" dirty="0"/>
          </a:p>
          <a:p>
            <a:pPr algn="l"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OTC non-diabetes push with Lingo launch in the US</a:t>
            </a:r>
            <a:endParaRPr lang="en-US" sz="1050" dirty="0"/>
          </a:p>
          <a:p>
            <a:pPr algn="l"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clinical trial for VOLT Pulsed-Field Ablation (PFA) system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640080" y="6473952"/>
            <a:ext cx="10911535" cy="0"/>
          </a:xfrm>
          <a:prstGeom prst="line">
            <a:avLst/>
          </a:prstGeom>
          <a:noFill/>
          <a:ln w="38100">
            <a:solidFill>
              <a:srgbClr val="D0D4D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93776" y="6327648"/>
            <a:ext cx="292608" cy="292608"/>
          </a:xfrm>
          <a:prstGeom prst="ellipse">
            <a:avLst/>
          </a:prstGeom>
          <a:solidFill>
            <a:srgbClr val="D0D4D8"/>
          </a:solidFill>
          <a:ln/>
        </p:spPr>
      </p:sp>
      <p:sp>
        <p:nvSpPr>
          <p:cNvPr id="25" name="Text 22"/>
          <p:cNvSpPr/>
          <p:nvPr/>
        </p:nvSpPr>
        <p:spPr>
          <a:xfrm>
            <a:off x="493776" y="63276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-182880" y="6665976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Company/Industry Overview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2676083" y="6327648"/>
            <a:ext cx="292608" cy="292608"/>
          </a:xfrm>
          <a:prstGeom prst="ellipse">
            <a:avLst/>
          </a:prstGeom>
          <a:solidFill>
            <a:srgbClr val="0089CF"/>
          </a:solidFill>
          <a:ln/>
        </p:spPr>
      </p:sp>
      <p:sp>
        <p:nvSpPr>
          <p:cNvPr id="28" name="Text 25"/>
          <p:cNvSpPr/>
          <p:nvPr/>
        </p:nvSpPr>
        <p:spPr>
          <a:xfrm>
            <a:off x="2676083" y="63276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1999427" y="6665976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Thesis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858390" y="6327648"/>
            <a:ext cx="292608" cy="292608"/>
          </a:xfrm>
          <a:prstGeom prst="ellipse">
            <a:avLst/>
          </a:prstGeom>
          <a:solidFill>
            <a:srgbClr val="D0D4D8"/>
          </a:solidFill>
          <a:ln/>
        </p:spPr>
      </p:sp>
      <p:sp>
        <p:nvSpPr>
          <p:cNvPr id="31" name="Text 28"/>
          <p:cNvSpPr/>
          <p:nvPr/>
        </p:nvSpPr>
        <p:spPr>
          <a:xfrm>
            <a:off x="4858390" y="63276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4181734" y="6665976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Statement Modeling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7040697" y="6327648"/>
            <a:ext cx="292608" cy="292608"/>
          </a:xfrm>
          <a:prstGeom prst="ellipse">
            <a:avLst/>
          </a:prstGeom>
          <a:solidFill>
            <a:srgbClr val="D0D4D8"/>
          </a:solidFill>
          <a:ln/>
        </p:spPr>
      </p:sp>
      <p:sp>
        <p:nvSpPr>
          <p:cNvPr id="34" name="Text 31"/>
          <p:cNvSpPr/>
          <p:nvPr/>
        </p:nvSpPr>
        <p:spPr>
          <a:xfrm>
            <a:off x="7040697" y="63276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6364041" y="6665976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Valuations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9223004" y="6327648"/>
            <a:ext cx="292608" cy="292608"/>
          </a:xfrm>
          <a:prstGeom prst="ellipse">
            <a:avLst/>
          </a:prstGeom>
          <a:solidFill>
            <a:srgbClr val="D0D4D8"/>
          </a:solidFill>
          <a:ln/>
        </p:spPr>
      </p:sp>
      <p:sp>
        <p:nvSpPr>
          <p:cNvPr id="37" name="Text 34"/>
          <p:cNvSpPr/>
          <p:nvPr/>
        </p:nvSpPr>
        <p:spPr>
          <a:xfrm>
            <a:off x="9223004" y="63276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8546348" y="6665976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/ Mitigants</a:t>
            </a:r>
            <a:endParaRPr lang="en-US" sz="800" dirty="0"/>
          </a:p>
        </p:txBody>
      </p:sp>
      <p:sp>
        <p:nvSpPr>
          <p:cNvPr id="39" name="Shape 36"/>
          <p:cNvSpPr/>
          <p:nvPr/>
        </p:nvSpPr>
        <p:spPr>
          <a:xfrm>
            <a:off x="11405311" y="6327648"/>
            <a:ext cx="292608" cy="292608"/>
          </a:xfrm>
          <a:prstGeom prst="ellipse">
            <a:avLst/>
          </a:prstGeom>
          <a:solidFill>
            <a:srgbClr val="D0D4D8"/>
          </a:solidFill>
          <a:ln/>
        </p:spPr>
      </p:sp>
      <p:sp>
        <p:nvSpPr>
          <p:cNvPr id="40" name="Text 37"/>
          <p:cNvSpPr/>
          <p:nvPr/>
        </p:nvSpPr>
        <p:spPr>
          <a:xfrm>
            <a:off x="11405311" y="63276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10728655" y="6665976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Investment Thesis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384048" y="868680"/>
            <a:ext cx="5669280" cy="0"/>
          </a:xfrm>
          <a:prstGeom prst="line">
            <a:avLst/>
          </a:prstGeom>
          <a:noFill/>
          <a:ln w="31750">
            <a:solidFill>
              <a:srgbClr val="0089C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84048" y="914400"/>
            <a:ext cx="5669280" cy="0"/>
          </a:xfrm>
          <a:prstGeom prst="line">
            <a:avLst/>
          </a:prstGeom>
          <a:noFill/>
          <a:ln w="12700">
            <a:solidFill>
              <a:srgbClr val="0089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30000" y="164592"/>
            <a:ext cx="45720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31750">
            <a:solidFill>
              <a:srgbClr val="0089C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0" y="109728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rgbClr val="0089C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1292840" y="530352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Abbott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 rot="5400000">
            <a:off x="11868912" y="137160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Sources: Wolfe Research and Bloomberg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1051560"/>
            <a:ext cx="114300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89C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Despite headwinds from competition, Abbott has been able to put up strong financials and earnings.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0" y="1783080"/>
            <a:ext cx="5760720" cy="384048"/>
          </a:xfrm>
          <a:prstGeom prst="rect">
            <a:avLst/>
          </a:prstGeom>
          <a:solidFill>
            <a:srgbClr val="1B75BC"/>
          </a:solidFill>
          <a:ln/>
        </p:spPr>
      </p:sp>
      <p:sp>
        <p:nvSpPr>
          <p:cNvPr id="12" name="Text 10"/>
          <p:cNvSpPr/>
          <p:nvPr/>
        </p:nvSpPr>
        <p:spPr>
          <a:xfrm>
            <a:off x="3200400" y="1783080"/>
            <a:ext cx="5760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Abbott's Recent Performance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291840" y="2286000"/>
            <a:ext cx="55778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ABT's share price rose 11.6% on stronger demand for CGM offerings &amp; 10.1% organic sales growth</a:t>
            </a:r>
            <a:endParaRPr lang="en-US" sz="1200" dirty="0"/>
          </a:p>
          <a:p>
            <a:pPr algn="l" marL="342900" indent="-3429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Adj. diluted EPS of $1.34, meeting analyst expectations</a:t>
            </a:r>
            <a:endParaRPr lang="en-US" sz="1200" dirty="0"/>
          </a:p>
          <a:p>
            <a:pPr algn="l" marL="342900" indent="-3429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FY 2024 gross margin improved 60 bps on an adjusted basis</a:t>
            </a:r>
            <a:endParaRPr lang="en-US" sz="1200" dirty="0"/>
          </a:p>
          <a:p>
            <a:pPr algn="l" marL="342900" indent="-342900">
              <a:buSzPct val="100000"/>
              <a:buChar char="–"/>
            </a:pPr>
            <a:r>
              <a:rPr lang="en-US" sz="12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FY 2024 continuous glucose monitor sales surged 22.8%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0" y="3794760"/>
            <a:ext cx="5760720" cy="384048"/>
          </a:xfrm>
          <a:prstGeom prst="rect">
            <a:avLst/>
          </a:prstGeom>
          <a:solidFill>
            <a:srgbClr val="1B75BC"/>
          </a:solidFill>
          <a:ln/>
        </p:spPr>
      </p:sp>
      <p:sp>
        <p:nvSpPr>
          <p:cNvPr id="15" name="Text 13"/>
          <p:cNvSpPr/>
          <p:nvPr/>
        </p:nvSpPr>
        <p:spPr>
          <a:xfrm>
            <a:off x="3200400" y="3794760"/>
            <a:ext cx="5760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Earnings Relative to Peers</a:t>
            </a:r>
            <a:endParaRPr lang="en-US" sz="15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3383280" y="4297680"/>
          <a:ext cx="5394960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Text 14"/>
          <p:cNvSpPr/>
          <p:nvPr/>
        </p:nvSpPr>
        <p:spPr>
          <a:xfrm>
            <a:off x="457200" y="4297680"/>
            <a:ext cx="24688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Note: Historically, ABT's EBIT has slightly outperformed the peer group.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40080" y="6473952"/>
            <a:ext cx="10911535" cy="0"/>
          </a:xfrm>
          <a:prstGeom prst="line">
            <a:avLst/>
          </a:prstGeom>
          <a:noFill/>
          <a:ln w="38100">
            <a:solidFill>
              <a:srgbClr val="D0D4D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93776" y="6327648"/>
            <a:ext cx="292608" cy="292608"/>
          </a:xfrm>
          <a:prstGeom prst="ellipse">
            <a:avLst/>
          </a:prstGeom>
          <a:solidFill>
            <a:srgbClr val="D0D4D8"/>
          </a:solidFill>
          <a:ln/>
        </p:spPr>
      </p:sp>
      <p:sp>
        <p:nvSpPr>
          <p:cNvPr id="20" name="Text 17"/>
          <p:cNvSpPr/>
          <p:nvPr/>
        </p:nvSpPr>
        <p:spPr>
          <a:xfrm>
            <a:off x="493776" y="63276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-182880" y="6665976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Company/Industry Overview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2676083" y="6327648"/>
            <a:ext cx="292608" cy="292608"/>
          </a:xfrm>
          <a:prstGeom prst="ellipse">
            <a:avLst/>
          </a:prstGeom>
          <a:solidFill>
            <a:srgbClr val="0089CF"/>
          </a:solidFill>
          <a:ln/>
        </p:spPr>
      </p:sp>
      <p:sp>
        <p:nvSpPr>
          <p:cNvPr id="23" name="Text 20"/>
          <p:cNvSpPr/>
          <p:nvPr/>
        </p:nvSpPr>
        <p:spPr>
          <a:xfrm>
            <a:off x="2676083" y="63276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999427" y="6665976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Thesis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858390" y="6327648"/>
            <a:ext cx="292608" cy="292608"/>
          </a:xfrm>
          <a:prstGeom prst="ellipse">
            <a:avLst/>
          </a:prstGeom>
          <a:solidFill>
            <a:srgbClr val="D0D4D8"/>
          </a:solidFill>
          <a:ln/>
        </p:spPr>
      </p:sp>
      <p:sp>
        <p:nvSpPr>
          <p:cNvPr id="26" name="Text 23"/>
          <p:cNvSpPr/>
          <p:nvPr/>
        </p:nvSpPr>
        <p:spPr>
          <a:xfrm>
            <a:off x="4858390" y="63276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4181734" y="6665976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Statement Modeling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7040697" y="6327648"/>
            <a:ext cx="292608" cy="292608"/>
          </a:xfrm>
          <a:prstGeom prst="ellipse">
            <a:avLst/>
          </a:prstGeom>
          <a:solidFill>
            <a:srgbClr val="D0D4D8"/>
          </a:solidFill>
          <a:ln/>
        </p:spPr>
      </p:sp>
      <p:sp>
        <p:nvSpPr>
          <p:cNvPr id="29" name="Text 26"/>
          <p:cNvSpPr/>
          <p:nvPr/>
        </p:nvSpPr>
        <p:spPr>
          <a:xfrm>
            <a:off x="7040697" y="63276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6364041" y="6665976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Valuations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9223004" y="6327648"/>
            <a:ext cx="292608" cy="292608"/>
          </a:xfrm>
          <a:prstGeom prst="ellipse">
            <a:avLst/>
          </a:prstGeom>
          <a:solidFill>
            <a:srgbClr val="D0D4D8"/>
          </a:solidFill>
          <a:ln/>
        </p:spPr>
      </p:sp>
      <p:sp>
        <p:nvSpPr>
          <p:cNvPr id="32" name="Text 29"/>
          <p:cNvSpPr/>
          <p:nvPr/>
        </p:nvSpPr>
        <p:spPr>
          <a:xfrm>
            <a:off x="9223004" y="63276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8546348" y="6665976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/ Mitigants</a:t>
            </a:r>
            <a:endParaRPr lang="en-US" sz="800" dirty="0"/>
          </a:p>
        </p:txBody>
      </p:sp>
      <p:sp>
        <p:nvSpPr>
          <p:cNvPr id="34" name="Shape 31"/>
          <p:cNvSpPr/>
          <p:nvPr/>
        </p:nvSpPr>
        <p:spPr>
          <a:xfrm>
            <a:off x="11405311" y="6327648"/>
            <a:ext cx="292608" cy="292608"/>
          </a:xfrm>
          <a:prstGeom prst="ellipse">
            <a:avLst/>
          </a:prstGeom>
          <a:solidFill>
            <a:srgbClr val="D0D4D8"/>
          </a:solidFill>
          <a:ln/>
        </p:spPr>
      </p:sp>
      <p:sp>
        <p:nvSpPr>
          <p:cNvPr id="35" name="Text 32"/>
          <p:cNvSpPr/>
          <p:nvPr/>
        </p:nvSpPr>
        <p:spPr>
          <a:xfrm>
            <a:off x="11405311" y="63276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10728655" y="6665976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Financial Statement Model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384048" y="868680"/>
            <a:ext cx="5669280" cy="0"/>
          </a:xfrm>
          <a:prstGeom prst="line">
            <a:avLst/>
          </a:prstGeom>
          <a:noFill/>
          <a:ln w="31750">
            <a:solidFill>
              <a:srgbClr val="0089C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84048" y="914400"/>
            <a:ext cx="5669280" cy="0"/>
          </a:xfrm>
          <a:prstGeom prst="line">
            <a:avLst/>
          </a:prstGeom>
          <a:noFill/>
          <a:ln w="12700">
            <a:solidFill>
              <a:srgbClr val="0089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30000" y="164592"/>
            <a:ext cx="45720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31750">
            <a:solidFill>
              <a:srgbClr val="0089C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0" y="109728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rgbClr val="0089C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1292840" y="530352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Abbott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148840" y="1170432"/>
            <a:ext cx="3931920" cy="219456"/>
          </a:xfrm>
          <a:prstGeom prst="rect">
            <a:avLst/>
          </a:prstGeom>
          <a:solidFill>
            <a:srgbClr val="1B75BC"/>
          </a:solidFill>
          <a:ln/>
        </p:spPr>
      </p:sp>
      <p:sp>
        <p:nvSpPr>
          <p:cNvPr id="9" name="Text 7"/>
          <p:cNvSpPr/>
          <p:nvPr/>
        </p:nvSpPr>
        <p:spPr>
          <a:xfrm>
            <a:off x="2148840" y="1170432"/>
            <a:ext cx="3931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080760" y="1170432"/>
            <a:ext cx="4892040" cy="219456"/>
          </a:xfrm>
          <a:prstGeom prst="rect">
            <a:avLst/>
          </a:prstGeom>
          <a:solidFill>
            <a:srgbClr val="5FA8DC"/>
          </a:solidFill>
          <a:ln/>
        </p:spPr>
      </p:sp>
      <p:sp>
        <p:nvSpPr>
          <p:cNvPr id="11" name="Text 9"/>
          <p:cNvSpPr/>
          <p:nvPr/>
        </p:nvSpPr>
        <p:spPr>
          <a:xfrm>
            <a:off x="6080760" y="1170432"/>
            <a:ext cx="4892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</a:t>
            </a:r>
            <a:endParaRPr lang="en-US" sz="9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89888"/>
          <a:ext cx="11430000" cy="914400"/>
        </p:xfrm>
        <a:graphic>
          <a:graphicData uri="http://schemas.openxmlformats.org/drawingml/2006/table">
            <a:tbl>
              <a:tblPr/>
              <a:tblGrid>
                <a:gridCol w="2788920"/>
                <a:gridCol w="969264"/>
                <a:gridCol w="969264"/>
                <a:gridCol w="969264"/>
                <a:gridCol w="969264"/>
                <a:gridCol w="969264"/>
                <a:gridCol w="969264"/>
                <a:gridCol w="969264"/>
                <a:gridCol w="969264"/>
                <a:gridCol w="969264"/>
              </a:tblGrid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75B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75B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75B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75B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75B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5FA8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5FA8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2027E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5FA8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2028E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5FA8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2029E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5FA8D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43075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43653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40109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41950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46682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48549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51006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YoY growth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12895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margin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Depreciation and Amortization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3267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3247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D&amp;A/Sales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8977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margin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 on EBIT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 Rate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EBIAT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6385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7460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Depreciation and Amortization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3267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3247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(1885)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(1777)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(2202)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(2246)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(2603)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(2661)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(2573)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(2000)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(2040)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 % of revenue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Changes in NWC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(771)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(1519)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(2475)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(1706)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(2020)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(1867)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(1942)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(1500)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(1530)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 % of revenue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Unlevered Free Cash Flow to the Firm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$9,353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$8,226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$4,901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$5,680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$6,598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$6,760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$7,239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$8,606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89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$8,747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365760" y="58521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Financial Model — Cash Flow Statement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40080" y="6473952"/>
            <a:ext cx="10911535" cy="0"/>
          </a:xfrm>
          <a:prstGeom prst="line">
            <a:avLst/>
          </a:prstGeom>
          <a:noFill/>
          <a:ln w="38100">
            <a:solidFill>
              <a:srgbClr val="D0D4D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93776" y="6327648"/>
            <a:ext cx="292608" cy="292608"/>
          </a:xfrm>
          <a:prstGeom prst="ellipse">
            <a:avLst/>
          </a:prstGeom>
          <a:solidFill>
            <a:srgbClr val="D0D4D8"/>
          </a:solidFill>
          <a:ln/>
        </p:spPr>
      </p:sp>
      <p:sp>
        <p:nvSpPr>
          <p:cNvPr id="16" name="Text 13"/>
          <p:cNvSpPr/>
          <p:nvPr/>
        </p:nvSpPr>
        <p:spPr>
          <a:xfrm>
            <a:off x="493776" y="63276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-182880" y="6665976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Company/Industry Overview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2676083" y="6327648"/>
            <a:ext cx="292608" cy="292608"/>
          </a:xfrm>
          <a:prstGeom prst="ellipse">
            <a:avLst/>
          </a:prstGeom>
          <a:solidFill>
            <a:srgbClr val="D0D4D8"/>
          </a:solidFill>
          <a:ln/>
        </p:spPr>
      </p:sp>
      <p:sp>
        <p:nvSpPr>
          <p:cNvPr id="19" name="Text 16"/>
          <p:cNvSpPr/>
          <p:nvPr/>
        </p:nvSpPr>
        <p:spPr>
          <a:xfrm>
            <a:off x="2676083" y="63276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999427" y="6665976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Thesis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4858390" y="6327648"/>
            <a:ext cx="292608" cy="292608"/>
          </a:xfrm>
          <a:prstGeom prst="ellipse">
            <a:avLst/>
          </a:prstGeom>
          <a:solidFill>
            <a:srgbClr val="0089CF"/>
          </a:solidFill>
          <a:ln/>
        </p:spPr>
      </p:sp>
      <p:sp>
        <p:nvSpPr>
          <p:cNvPr id="22" name="Text 19"/>
          <p:cNvSpPr/>
          <p:nvPr/>
        </p:nvSpPr>
        <p:spPr>
          <a:xfrm>
            <a:off x="4858390" y="63276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181734" y="6665976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Statement Modeling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7040697" y="6327648"/>
            <a:ext cx="292608" cy="292608"/>
          </a:xfrm>
          <a:prstGeom prst="ellipse">
            <a:avLst/>
          </a:prstGeom>
          <a:solidFill>
            <a:srgbClr val="D0D4D8"/>
          </a:solidFill>
          <a:ln/>
        </p:spPr>
      </p:sp>
      <p:sp>
        <p:nvSpPr>
          <p:cNvPr id="25" name="Text 22"/>
          <p:cNvSpPr/>
          <p:nvPr/>
        </p:nvSpPr>
        <p:spPr>
          <a:xfrm>
            <a:off x="7040697" y="63276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364041" y="6665976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Valuations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9223004" y="6327648"/>
            <a:ext cx="292608" cy="292608"/>
          </a:xfrm>
          <a:prstGeom prst="ellipse">
            <a:avLst/>
          </a:prstGeom>
          <a:solidFill>
            <a:srgbClr val="D0D4D8"/>
          </a:solidFill>
          <a:ln/>
        </p:spPr>
      </p:sp>
      <p:sp>
        <p:nvSpPr>
          <p:cNvPr id="28" name="Text 25"/>
          <p:cNvSpPr/>
          <p:nvPr/>
        </p:nvSpPr>
        <p:spPr>
          <a:xfrm>
            <a:off x="9223004" y="63276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546348" y="6665976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/ Mitigants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11405311" y="6327648"/>
            <a:ext cx="292608" cy="292608"/>
          </a:xfrm>
          <a:prstGeom prst="ellipse">
            <a:avLst/>
          </a:prstGeom>
          <a:solidFill>
            <a:srgbClr val="D0D4D8"/>
          </a:solidFill>
          <a:ln/>
        </p:spPr>
      </p:sp>
      <p:sp>
        <p:nvSpPr>
          <p:cNvPr id="31" name="Text 28"/>
          <p:cNvSpPr/>
          <p:nvPr/>
        </p:nvSpPr>
        <p:spPr>
          <a:xfrm>
            <a:off x="11405311" y="63276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10728655" y="6665976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Valuation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384048" y="868680"/>
            <a:ext cx="5669280" cy="0"/>
          </a:xfrm>
          <a:prstGeom prst="line">
            <a:avLst/>
          </a:prstGeom>
          <a:noFill/>
          <a:ln w="31750">
            <a:solidFill>
              <a:srgbClr val="0089C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84048" y="914400"/>
            <a:ext cx="5669280" cy="0"/>
          </a:xfrm>
          <a:prstGeom prst="line">
            <a:avLst/>
          </a:prstGeom>
          <a:noFill/>
          <a:ln w="12700">
            <a:solidFill>
              <a:srgbClr val="0089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30000" y="164592"/>
            <a:ext cx="45720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31750">
            <a:solidFill>
              <a:srgbClr val="0089C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0" y="109728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rgbClr val="0089C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1292840" y="530352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Abbott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822960" y="1234440"/>
            <a:ext cx="4206240" cy="256032"/>
          </a:xfrm>
          <a:prstGeom prst="rect">
            <a:avLst/>
          </a:prstGeom>
          <a:solidFill>
            <a:srgbClr val="5FA8DC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234440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 Value: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490472"/>
          <a:ext cx="4206240" cy="914400"/>
        </p:xfrm>
        <a:graphic>
          <a:graphicData uri="http://schemas.openxmlformats.org/drawingml/2006/table">
            <a:tbl>
              <a:tblPr/>
              <a:tblGrid>
                <a:gridCol w="2776118"/>
                <a:gridCol w="1430122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Cumulative PV of Unlevered FCF to the Firm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$31,112.9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Present Value of Terminal Value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$107,793.1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of Enterprise Value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77.6%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Enterprise Value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$138,906.0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822960" y="2651760"/>
            <a:ext cx="4206240" cy="256032"/>
          </a:xfrm>
          <a:prstGeom prst="rect">
            <a:avLst/>
          </a:prstGeom>
          <a:solidFill>
            <a:srgbClr val="5FA8DC"/>
          </a:solidFill>
          <a:ln/>
        </p:spPr>
      </p:sp>
      <p:sp>
        <p:nvSpPr>
          <p:cNvPr id="12" name="Text 9"/>
          <p:cNvSpPr/>
          <p:nvPr/>
        </p:nvSpPr>
        <p:spPr>
          <a:xfrm>
            <a:off x="822960" y="2651760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Implied Equity Value</a:t>
            </a:r>
            <a:endParaRPr lang="en-US" sz="11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907792"/>
          <a:ext cx="4206240" cy="914400"/>
        </p:xfrm>
        <a:graphic>
          <a:graphicData uri="http://schemas.openxmlformats.org/drawingml/2006/table">
            <a:tbl>
              <a:tblPr/>
              <a:tblGrid>
                <a:gridCol w="2776118"/>
                <a:gridCol w="1430122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Enterprise Value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$138,906.0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 Debt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$(14,754.0)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Preferred Stock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$  -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Non-Controlling Interest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$242.0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Cash and Cash Equivalents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$75,547.0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Implied Equity Value (Market Cap)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$199,941.01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Fully Diluted Shares Outstanding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1739.9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Implied Price Per Share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$114.92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5486400" y="1234440"/>
            <a:ext cx="4023360" cy="256032"/>
          </a:xfrm>
          <a:prstGeom prst="rect">
            <a:avLst/>
          </a:prstGeom>
          <a:solidFill>
            <a:srgbClr val="5FA8DC"/>
          </a:solidFill>
          <a:ln/>
        </p:spPr>
      </p:sp>
      <p:sp>
        <p:nvSpPr>
          <p:cNvPr id="15" name="Text 11"/>
          <p:cNvSpPr/>
          <p:nvPr/>
        </p:nvSpPr>
        <p:spPr>
          <a:xfrm>
            <a:off x="5486400" y="123444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Terminal (Continuing) Value</a:t>
            </a:r>
            <a:endParaRPr lang="en-US" sz="11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1490472"/>
          <a:ext cx="4023360" cy="914400"/>
        </p:xfrm>
        <a:graphic>
          <a:graphicData uri="http://schemas.openxmlformats.org/drawingml/2006/table">
            <a:tbl>
              <a:tblPr/>
              <a:tblGrid>
                <a:gridCol w="2655418"/>
                <a:gridCol w="1367942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Exit Year Sales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$13,547.1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Exit Multiple EV/EBITDA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11.8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Terminal Value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$159,855.4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Discount Factor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0.67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Implied "g"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Shape 12"/>
          <p:cNvSpPr/>
          <p:nvPr/>
        </p:nvSpPr>
        <p:spPr>
          <a:xfrm>
            <a:off x="5486400" y="3154680"/>
            <a:ext cx="5897880" cy="310896"/>
          </a:xfrm>
          <a:prstGeom prst="rect">
            <a:avLst/>
          </a:prstGeom>
          <a:solidFill>
            <a:srgbClr val="5FA8DC"/>
          </a:solidFill>
          <a:ln/>
        </p:spPr>
      </p:sp>
      <p:sp>
        <p:nvSpPr>
          <p:cNvPr id="18" name="Text 13"/>
          <p:cNvSpPr/>
          <p:nvPr/>
        </p:nvSpPr>
        <p:spPr>
          <a:xfrm>
            <a:off x="5486400" y="3154680"/>
            <a:ext cx="5897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Sensitivity Analysis: Exit EBITDA Multiple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6446520" y="3502152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EV/EBITDA Multiple</a:t>
            </a:r>
            <a:endParaRPr lang="en-US" sz="1100" dirty="0"/>
          </a:p>
        </p:txBody>
      </p:sp>
      <p:graphicFrame>
        <p:nvGraphicFramePr>
          <p:cNvPr id="2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3739896"/>
          <a:ext cx="49377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822960"/>
                <a:gridCol w="822960"/>
                <a:gridCol w="822960"/>
                <a:gridCol w="822960"/>
                <a:gridCol w="822960"/>
              </a:tblGrid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$114.92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$109.59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AF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$115.53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DB7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$121.47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D87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$127.41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ACF7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$133.35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2C673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$106.72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996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$112.42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C4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$118.11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D7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$123.81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D47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$129.50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CC74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$103.99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85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$109.46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AE6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$114.92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D77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$120.38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DA7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$125.84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D17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$101.40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725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$106.64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996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$111.88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C06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$117.12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DF7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$122.36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776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$98.92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5F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$103.95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85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$108.98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AA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$114.01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07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$119.04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C77"/>
                    </a:solidFill>
                  </a:tcPr>
                </a:tc>
              </a:tr>
            </a:tbl>
          </a:graphicData>
        </a:graphic>
      </p:graphicFrame>
      <p:sp>
        <p:nvSpPr>
          <p:cNvPr id="21" name="Text 15"/>
          <p:cNvSpPr/>
          <p:nvPr/>
        </p:nvSpPr>
        <p:spPr>
          <a:xfrm rot="16200000">
            <a:off x="5897880" y="3904488"/>
            <a:ext cx="548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WACC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640080" y="6473952"/>
            <a:ext cx="10911535" cy="0"/>
          </a:xfrm>
          <a:prstGeom prst="line">
            <a:avLst/>
          </a:prstGeom>
          <a:noFill/>
          <a:ln w="38100">
            <a:solidFill>
              <a:srgbClr val="D0D4D8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493776" y="6327648"/>
            <a:ext cx="292608" cy="292608"/>
          </a:xfrm>
          <a:prstGeom prst="ellipse">
            <a:avLst/>
          </a:prstGeom>
          <a:solidFill>
            <a:srgbClr val="D0D4D8"/>
          </a:solidFill>
          <a:ln/>
        </p:spPr>
      </p:sp>
      <p:sp>
        <p:nvSpPr>
          <p:cNvPr id="24" name="Text 18"/>
          <p:cNvSpPr/>
          <p:nvPr/>
        </p:nvSpPr>
        <p:spPr>
          <a:xfrm>
            <a:off x="493776" y="63276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-182880" y="6665976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Company/Industry Overview</a:t>
            </a:r>
            <a:endParaRPr lang="en-US" sz="800" dirty="0"/>
          </a:p>
        </p:txBody>
      </p:sp>
      <p:sp>
        <p:nvSpPr>
          <p:cNvPr id="26" name="Shape 20"/>
          <p:cNvSpPr/>
          <p:nvPr/>
        </p:nvSpPr>
        <p:spPr>
          <a:xfrm>
            <a:off x="2676083" y="6327648"/>
            <a:ext cx="292608" cy="292608"/>
          </a:xfrm>
          <a:prstGeom prst="ellipse">
            <a:avLst/>
          </a:prstGeom>
          <a:solidFill>
            <a:srgbClr val="D0D4D8"/>
          </a:solidFill>
          <a:ln/>
        </p:spPr>
      </p:sp>
      <p:sp>
        <p:nvSpPr>
          <p:cNvPr id="27" name="Text 21"/>
          <p:cNvSpPr/>
          <p:nvPr/>
        </p:nvSpPr>
        <p:spPr>
          <a:xfrm>
            <a:off x="2676083" y="63276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8" name="Text 22"/>
          <p:cNvSpPr/>
          <p:nvPr/>
        </p:nvSpPr>
        <p:spPr>
          <a:xfrm>
            <a:off x="1999427" y="6665976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Thesis</a:t>
            </a:r>
            <a:endParaRPr lang="en-US" sz="800" dirty="0"/>
          </a:p>
        </p:txBody>
      </p:sp>
      <p:sp>
        <p:nvSpPr>
          <p:cNvPr id="29" name="Shape 23"/>
          <p:cNvSpPr/>
          <p:nvPr/>
        </p:nvSpPr>
        <p:spPr>
          <a:xfrm>
            <a:off x="4858390" y="6327648"/>
            <a:ext cx="292608" cy="292608"/>
          </a:xfrm>
          <a:prstGeom prst="ellipse">
            <a:avLst/>
          </a:prstGeom>
          <a:solidFill>
            <a:srgbClr val="D0D4D8"/>
          </a:solidFill>
          <a:ln/>
        </p:spPr>
      </p:sp>
      <p:sp>
        <p:nvSpPr>
          <p:cNvPr id="30" name="Text 24"/>
          <p:cNvSpPr/>
          <p:nvPr/>
        </p:nvSpPr>
        <p:spPr>
          <a:xfrm>
            <a:off x="4858390" y="63276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5"/>
          <p:cNvSpPr/>
          <p:nvPr/>
        </p:nvSpPr>
        <p:spPr>
          <a:xfrm>
            <a:off x="4181734" y="6665976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Statement Modeling</a:t>
            </a:r>
            <a:endParaRPr lang="en-US" sz="800" dirty="0"/>
          </a:p>
        </p:txBody>
      </p:sp>
      <p:sp>
        <p:nvSpPr>
          <p:cNvPr id="32" name="Shape 26"/>
          <p:cNvSpPr/>
          <p:nvPr/>
        </p:nvSpPr>
        <p:spPr>
          <a:xfrm>
            <a:off x="7040697" y="6327648"/>
            <a:ext cx="292608" cy="292608"/>
          </a:xfrm>
          <a:prstGeom prst="ellipse">
            <a:avLst/>
          </a:prstGeom>
          <a:solidFill>
            <a:srgbClr val="0089CF"/>
          </a:solidFill>
          <a:ln/>
        </p:spPr>
      </p:sp>
      <p:sp>
        <p:nvSpPr>
          <p:cNvPr id="33" name="Text 27"/>
          <p:cNvSpPr/>
          <p:nvPr/>
        </p:nvSpPr>
        <p:spPr>
          <a:xfrm>
            <a:off x="7040697" y="63276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4" name="Text 28"/>
          <p:cNvSpPr/>
          <p:nvPr/>
        </p:nvSpPr>
        <p:spPr>
          <a:xfrm>
            <a:off x="6364041" y="6665976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Valuations</a:t>
            </a:r>
            <a:endParaRPr lang="en-US" sz="800" dirty="0"/>
          </a:p>
        </p:txBody>
      </p:sp>
      <p:sp>
        <p:nvSpPr>
          <p:cNvPr id="35" name="Shape 29"/>
          <p:cNvSpPr/>
          <p:nvPr/>
        </p:nvSpPr>
        <p:spPr>
          <a:xfrm>
            <a:off x="9223004" y="6327648"/>
            <a:ext cx="292608" cy="292608"/>
          </a:xfrm>
          <a:prstGeom prst="ellipse">
            <a:avLst/>
          </a:prstGeom>
          <a:solidFill>
            <a:srgbClr val="D0D4D8"/>
          </a:solidFill>
          <a:ln/>
        </p:spPr>
      </p:sp>
      <p:sp>
        <p:nvSpPr>
          <p:cNvPr id="36" name="Text 30"/>
          <p:cNvSpPr/>
          <p:nvPr/>
        </p:nvSpPr>
        <p:spPr>
          <a:xfrm>
            <a:off x="9223004" y="63276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31"/>
          <p:cNvSpPr/>
          <p:nvPr/>
        </p:nvSpPr>
        <p:spPr>
          <a:xfrm>
            <a:off x="8546348" y="6665976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/ Mitigants</a:t>
            </a:r>
            <a:endParaRPr lang="en-US" sz="800" dirty="0"/>
          </a:p>
        </p:txBody>
      </p:sp>
      <p:sp>
        <p:nvSpPr>
          <p:cNvPr id="38" name="Shape 32"/>
          <p:cNvSpPr/>
          <p:nvPr/>
        </p:nvSpPr>
        <p:spPr>
          <a:xfrm>
            <a:off x="11405311" y="6327648"/>
            <a:ext cx="292608" cy="292608"/>
          </a:xfrm>
          <a:prstGeom prst="ellipse">
            <a:avLst/>
          </a:prstGeom>
          <a:solidFill>
            <a:srgbClr val="D0D4D8"/>
          </a:solidFill>
          <a:ln/>
        </p:spPr>
      </p:sp>
      <p:sp>
        <p:nvSpPr>
          <p:cNvPr id="39" name="Text 33"/>
          <p:cNvSpPr/>
          <p:nvPr/>
        </p:nvSpPr>
        <p:spPr>
          <a:xfrm>
            <a:off x="11405311" y="63276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40" name="Text 34"/>
          <p:cNvSpPr/>
          <p:nvPr/>
        </p:nvSpPr>
        <p:spPr>
          <a:xfrm>
            <a:off x="10728655" y="6665976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Valuation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384048" y="868680"/>
            <a:ext cx="5669280" cy="0"/>
          </a:xfrm>
          <a:prstGeom prst="line">
            <a:avLst/>
          </a:prstGeom>
          <a:noFill/>
          <a:ln w="31750">
            <a:solidFill>
              <a:srgbClr val="0089C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84048" y="914400"/>
            <a:ext cx="5669280" cy="0"/>
          </a:xfrm>
          <a:prstGeom prst="line">
            <a:avLst/>
          </a:prstGeom>
          <a:noFill/>
          <a:ln w="12700">
            <a:solidFill>
              <a:srgbClr val="0089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30000" y="164592"/>
            <a:ext cx="45720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31750">
            <a:solidFill>
              <a:srgbClr val="0089C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0" y="109728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rgbClr val="0089C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1292840" y="530352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Abbott</a:t>
            </a:r>
            <a:endParaRPr lang="en-US" sz="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6596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932688"/>
                <a:gridCol w="932688"/>
                <a:gridCol w="1024128"/>
                <a:gridCol w="1024128"/>
                <a:gridCol w="932688"/>
                <a:gridCol w="1207008"/>
                <a:gridCol w="932688"/>
              </a:tblGrid>
              <a:tr h="2057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A8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P/E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A8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P/BV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A8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P/OCF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A8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P/FCF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A8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EV/S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A8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EV/EBITDA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A8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EV/EBIT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A8DC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SYK 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36.02x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6.89x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39.77x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48.45x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6.87x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27.05x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34.73x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BSX 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48.43x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6.08x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46.89x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67.04x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8.68x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35.72x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53.47x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MDT 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21.67x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2.41x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17.24x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23.14x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4.16x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17.41x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26.32x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BDX 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19.56x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2.70x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17.77x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21.76x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4.23x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19.01x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39.48x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TMO 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36.98x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4.94x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25.24x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29.64x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6.16x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24.79x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36.22x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32.53x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4.60x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29.38x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38.01x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24.80x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38.04x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2F6FA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36.02x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4.94x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25.24x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29.64x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6.16x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24.79x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36.22x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6FA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377440" y="3383280"/>
            <a:ext cx="4023360" cy="274320"/>
          </a:xfrm>
          <a:prstGeom prst="rect">
            <a:avLst/>
          </a:prstGeom>
          <a:solidFill>
            <a:srgbClr val="5FA8DC"/>
          </a:solidFill>
          <a:ln/>
        </p:spPr>
      </p:sp>
      <p:sp>
        <p:nvSpPr>
          <p:cNvPr id="10" name="Text 7"/>
          <p:cNvSpPr/>
          <p:nvPr/>
        </p:nvSpPr>
        <p:spPr>
          <a:xfrm>
            <a:off x="2377440" y="338328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Indirect Valuation</a:t>
            </a:r>
            <a:endParaRPr lang="en-US" sz="12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377440" y="3657600"/>
          <a:ext cx="4023360" cy="914400"/>
        </p:xfrm>
        <a:graphic>
          <a:graphicData uri="http://schemas.openxmlformats.org/drawingml/2006/table">
            <a:tbl>
              <a:tblPr/>
              <a:tblGrid>
                <a:gridCol w="2414016"/>
                <a:gridCol w="1609344"/>
              </a:tblGrid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Metric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EV/EBITDA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ABT EBITDA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$10,470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 Multiple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24.80x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Implied EV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$259,656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Less Debt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$14,754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Less minority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$242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Plus Cash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$7,547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Implied Equity Value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$252,207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Number of shares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1739.9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Implied Share Price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$144.95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6949440" y="3383280"/>
            <a:ext cx="3291840" cy="274320"/>
          </a:xfrm>
          <a:prstGeom prst="rect">
            <a:avLst/>
          </a:prstGeom>
          <a:solidFill>
            <a:srgbClr val="5FA8DC"/>
          </a:solidFill>
          <a:ln/>
        </p:spPr>
      </p:sp>
      <p:sp>
        <p:nvSpPr>
          <p:cNvPr id="13" name="Text 9"/>
          <p:cNvSpPr/>
          <p:nvPr/>
        </p:nvSpPr>
        <p:spPr>
          <a:xfrm>
            <a:off x="6949440" y="33832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 Valuation</a:t>
            </a:r>
            <a:endParaRPr lang="en-US" sz="1200" dirty="0"/>
          </a:p>
        </p:txBody>
      </p:sp>
      <p:graphicFrame>
        <p:nvGraphicFramePr>
          <p:cNvPr id="2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3657600"/>
          <a:ext cx="3291840" cy="914400"/>
        </p:xfrm>
        <a:graphic>
          <a:graphicData uri="http://schemas.openxmlformats.org/drawingml/2006/table">
            <a:tbl>
              <a:tblPr/>
              <a:tblGrid>
                <a:gridCol w="1975104"/>
                <a:gridCol w="1316736"/>
              </a:tblGrid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Selected Metric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P/BV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Book Value per share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$22.60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 Multiple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4.94x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Implied Share Price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$111.64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Shape 10"/>
          <p:cNvSpPr/>
          <p:nvPr/>
        </p:nvSpPr>
        <p:spPr>
          <a:xfrm>
            <a:off x="640080" y="6473952"/>
            <a:ext cx="10911535" cy="0"/>
          </a:xfrm>
          <a:prstGeom prst="line">
            <a:avLst/>
          </a:prstGeom>
          <a:noFill/>
          <a:ln w="38100">
            <a:solidFill>
              <a:srgbClr val="D0D4D8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93776" y="6327648"/>
            <a:ext cx="292608" cy="292608"/>
          </a:xfrm>
          <a:prstGeom prst="ellipse">
            <a:avLst/>
          </a:prstGeom>
          <a:solidFill>
            <a:srgbClr val="D0D4D8"/>
          </a:solidFill>
          <a:ln/>
        </p:spPr>
      </p:sp>
      <p:sp>
        <p:nvSpPr>
          <p:cNvPr id="17" name="Text 12"/>
          <p:cNvSpPr/>
          <p:nvPr/>
        </p:nvSpPr>
        <p:spPr>
          <a:xfrm>
            <a:off x="493776" y="63276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-182880" y="6665976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Company/Industry Overview</a:t>
            </a:r>
            <a:endParaRPr lang="en-US" sz="800" dirty="0"/>
          </a:p>
        </p:txBody>
      </p:sp>
      <p:sp>
        <p:nvSpPr>
          <p:cNvPr id="19" name="Shape 14"/>
          <p:cNvSpPr/>
          <p:nvPr/>
        </p:nvSpPr>
        <p:spPr>
          <a:xfrm>
            <a:off x="2676083" y="6327648"/>
            <a:ext cx="292608" cy="292608"/>
          </a:xfrm>
          <a:prstGeom prst="ellipse">
            <a:avLst/>
          </a:prstGeom>
          <a:solidFill>
            <a:srgbClr val="D0D4D8"/>
          </a:solidFill>
          <a:ln/>
        </p:spPr>
      </p:sp>
      <p:sp>
        <p:nvSpPr>
          <p:cNvPr id="20" name="Text 15"/>
          <p:cNvSpPr/>
          <p:nvPr/>
        </p:nvSpPr>
        <p:spPr>
          <a:xfrm>
            <a:off x="2676083" y="63276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1999427" y="6665976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Thesis</a:t>
            </a:r>
            <a:endParaRPr lang="en-US" sz="800" dirty="0"/>
          </a:p>
        </p:txBody>
      </p:sp>
      <p:sp>
        <p:nvSpPr>
          <p:cNvPr id="22" name="Shape 17"/>
          <p:cNvSpPr/>
          <p:nvPr/>
        </p:nvSpPr>
        <p:spPr>
          <a:xfrm>
            <a:off x="4858390" y="6327648"/>
            <a:ext cx="292608" cy="292608"/>
          </a:xfrm>
          <a:prstGeom prst="ellipse">
            <a:avLst/>
          </a:prstGeom>
          <a:solidFill>
            <a:srgbClr val="D0D4D8"/>
          </a:solidFill>
          <a:ln/>
        </p:spPr>
      </p:sp>
      <p:sp>
        <p:nvSpPr>
          <p:cNvPr id="23" name="Text 18"/>
          <p:cNvSpPr/>
          <p:nvPr/>
        </p:nvSpPr>
        <p:spPr>
          <a:xfrm>
            <a:off x="4858390" y="63276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4181734" y="6665976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Statement Modeling</a:t>
            </a:r>
            <a:endParaRPr lang="en-US" sz="800" dirty="0"/>
          </a:p>
        </p:txBody>
      </p:sp>
      <p:sp>
        <p:nvSpPr>
          <p:cNvPr id="25" name="Shape 20"/>
          <p:cNvSpPr/>
          <p:nvPr/>
        </p:nvSpPr>
        <p:spPr>
          <a:xfrm>
            <a:off x="7040697" y="6327648"/>
            <a:ext cx="292608" cy="292608"/>
          </a:xfrm>
          <a:prstGeom prst="ellipse">
            <a:avLst/>
          </a:prstGeom>
          <a:solidFill>
            <a:srgbClr val="0089CF"/>
          </a:solidFill>
          <a:ln/>
        </p:spPr>
      </p:sp>
      <p:sp>
        <p:nvSpPr>
          <p:cNvPr id="26" name="Text 21"/>
          <p:cNvSpPr/>
          <p:nvPr/>
        </p:nvSpPr>
        <p:spPr>
          <a:xfrm>
            <a:off x="7040697" y="63276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2"/>
          <p:cNvSpPr/>
          <p:nvPr/>
        </p:nvSpPr>
        <p:spPr>
          <a:xfrm>
            <a:off x="6364041" y="6665976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Valuations</a:t>
            </a:r>
            <a:endParaRPr lang="en-US" sz="800" dirty="0"/>
          </a:p>
        </p:txBody>
      </p:sp>
      <p:sp>
        <p:nvSpPr>
          <p:cNvPr id="28" name="Shape 23"/>
          <p:cNvSpPr/>
          <p:nvPr/>
        </p:nvSpPr>
        <p:spPr>
          <a:xfrm>
            <a:off x="9223004" y="6327648"/>
            <a:ext cx="292608" cy="292608"/>
          </a:xfrm>
          <a:prstGeom prst="ellipse">
            <a:avLst/>
          </a:prstGeom>
          <a:solidFill>
            <a:srgbClr val="D0D4D8"/>
          </a:solidFill>
          <a:ln/>
        </p:spPr>
      </p:sp>
      <p:sp>
        <p:nvSpPr>
          <p:cNvPr id="29" name="Text 24"/>
          <p:cNvSpPr/>
          <p:nvPr/>
        </p:nvSpPr>
        <p:spPr>
          <a:xfrm>
            <a:off x="9223004" y="63276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5"/>
          <p:cNvSpPr/>
          <p:nvPr/>
        </p:nvSpPr>
        <p:spPr>
          <a:xfrm>
            <a:off x="8546348" y="6665976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/ Mitigants</a:t>
            </a:r>
            <a:endParaRPr lang="en-US" sz="800" dirty="0"/>
          </a:p>
        </p:txBody>
      </p:sp>
      <p:sp>
        <p:nvSpPr>
          <p:cNvPr id="31" name="Shape 26"/>
          <p:cNvSpPr/>
          <p:nvPr/>
        </p:nvSpPr>
        <p:spPr>
          <a:xfrm>
            <a:off x="11405311" y="6327648"/>
            <a:ext cx="292608" cy="292608"/>
          </a:xfrm>
          <a:prstGeom prst="ellipse">
            <a:avLst/>
          </a:prstGeom>
          <a:solidFill>
            <a:srgbClr val="D0D4D8"/>
          </a:solidFill>
          <a:ln/>
        </p:spPr>
      </p:sp>
      <p:sp>
        <p:nvSpPr>
          <p:cNvPr id="32" name="Text 27"/>
          <p:cNvSpPr/>
          <p:nvPr/>
        </p:nvSpPr>
        <p:spPr>
          <a:xfrm>
            <a:off x="11405311" y="63276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28"/>
          <p:cNvSpPr/>
          <p:nvPr/>
        </p:nvSpPr>
        <p:spPr>
          <a:xfrm>
            <a:off x="10728655" y="6665976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and Mitigants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384048" y="868680"/>
            <a:ext cx="5669280" cy="0"/>
          </a:xfrm>
          <a:prstGeom prst="line">
            <a:avLst/>
          </a:prstGeom>
          <a:noFill/>
          <a:ln w="31750">
            <a:solidFill>
              <a:srgbClr val="0089C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84048" y="914400"/>
            <a:ext cx="5669280" cy="0"/>
          </a:xfrm>
          <a:prstGeom prst="line">
            <a:avLst/>
          </a:prstGeom>
          <a:noFill/>
          <a:ln w="12700">
            <a:solidFill>
              <a:srgbClr val="0089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30000" y="164592"/>
            <a:ext cx="45720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31750">
            <a:solidFill>
              <a:srgbClr val="0089C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0" y="109728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rgbClr val="0089C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1292840" y="530352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Abbott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 rot="5400000">
            <a:off x="11868912" y="137160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Sources: 10K and Wolfe Research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1097280"/>
            <a:ext cx="2286000" cy="502920"/>
          </a:xfrm>
          <a:prstGeom prst="rect">
            <a:avLst/>
          </a:prstGeom>
          <a:solidFill>
            <a:srgbClr val="1B75BC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109728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743200" y="1097280"/>
            <a:ext cx="4617720" cy="502920"/>
          </a:xfrm>
          <a:prstGeom prst="rect">
            <a:avLst/>
          </a:prstGeom>
          <a:solidFill>
            <a:srgbClr val="1B75BC"/>
          </a:solidFill>
          <a:ln/>
        </p:spPr>
      </p:sp>
      <p:sp>
        <p:nvSpPr>
          <p:cNvPr id="12" name="Text 10"/>
          <p:cNvSpPr/>
          <p:nvPr/>
        </p:nvSpPr>
        <p:spPr>
          <a:xfrm>
            <a:off x="2743200" y="1097280"/>
            <a:ext cx="4617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Description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452360" y="1097280"/>
            <a:ext cx="4343400" cy="502920"/>
          </a:xfrm>
          <a:prstGeom prst="rect">
            <a:avLst/>
          </a:prstGeom>
          <a:solidFill>
            <a:srgbClr val="1B75BC"/>
          </a:solidFill>
          <a:ln/>
        </p:spPr>
      </p:sp>
      <p:sp>
        <p:nvSpPr>
          <p:cNvPr id="14" name="Text 12"/>
          <p:cNvSpPr/>
          <p:nvPr/>
        </p:nvSpPr>
        <p:spPr>
          <a:xfrm>
            <a:off x="7452360" y="1097280"/>
            <a:ext cx="4343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Mitigation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65760" y="1691640"/>
            <a:ext cx="2286000" cy="1417320"/>
          </a:xfrm>
          <a:prstGeom prst="rect">
            <a:avLst/>
          </a:prstGeom>
          <a:solidFill>
            <a:srgbClr val="1B75BC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1691640"/>
            <a:ext cx="210312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Growth Slowdown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743200" y="1691640"/>
            <a:ext cx="46177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B75B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852928" y="1764792"/>
            <a:ext cx="4398264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Intensifying competition with Boston Scientific, Medtronic, J&amp;J could slow growth, specifically in medical devices</a:t>
            </a:r>
            <a:endParaRPr lang="en-US" sz="950" dirty="0"/>
          </a:p>
          <a:p>
            <a:pPr algn="l" marL="342900" indent="-342900"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Fx pressures (5.6% China sales exposure)</a:t>
            </a:r>
            <a:endParaRPr lang="en-US" sz="950" dirty="0"/>
          </a:p>
          <a:p>
            <a:pPr algn="l" marL="342900" indent="-342900"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Potential Medicaid defunding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452360" y="1691640"/>
            <a:ext cx="43434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B75B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562088" y="1764792"/>
            <a:ext cx="4123944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new automated facilities to streamline CGM (Freestyle Libre) manufacturing</a:t>
            </a:r>
            <a:endParaRPr lang="en-US" sz="950" dirty="0"/>
          </a:p>
          <a:p>
            <a:pPr algn="l" marL="342900" indent="-342900"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Infiltrate the Pulsed-Field Ablation (PFA) systems market</a:t>
            </a:r>
            <a:endParaRPr lang="en-US" sz="950" dirty="0"/>
          </a:p>
          <a:p>
            <a:pPr algn="l" marL="342900" indent="-342900"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OTC non-diabetes push via Lingo launch</a:t>
            </a:r>
            <a:endParaRPr lang="en-US" sz="950" dirty="0"/>
          </a:p>
          <a:p>
            <a:pPr algn="l" marL="342900" indent="-342900"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Partnerships with insulin companies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65760" y="3218688"/>
            <a:ext cx="2286000" cy="1234440"/>
          </a:xfrm>
          <a:prstGeom prst="rect">
            <a:avLst/>
          </a:prstGeom>
          <a:solidFill>
            <a:srgbClr val="1B75BC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3218688"/>
            <a:ext cx="21031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Trial and Market Penetration Failures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743200" y="3218688"/>
            <a:ext cx="46177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B75B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852928" y="3291840"/>
            <a:ext cx="4398264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Sued for misleading nutritional value on infant milk products (~$1.25B–2B loss), yet 60% chance of settlement</a:t>
            </a:r>
            <a:endParaRPr lang="en-US" sz="950" dirty="0"/>
          </a:p>
          <a:p>
            <a:pPr algn="l" marL="342900" indent="-342900"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of product recalls from quality issues or regulatory non-compliance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452360" y="3218688"/>
            <a:ext cx="43434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B75B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562088" y="3291840"/>
            <a:ext cx="4123944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Strategically invest more into a robust R&amp;D pipeline</a:t>
            </a:r>
            <a:endParaRPr lang="en-US" sz="950" dirty="0"/>
          </a:p>
          <a:p>
            <a:pPr algn="l" marL="342900" indent="-342900"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Potentially increase reserve fund for potential settlements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65760" y="4562856"/>
            <a:ext cx="2286000" cy="1234440"/>
          </a:xfrm>
          <a:prstGeom prst="rect">
            <a:avLst/>
          </a:prstGeom>
          <a:solidFill>
            <a:srgbClr val="1B75BC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4562856"/>
            <a:ext cx="21031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Dilution from Acquisitions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2743200" y="4562856"/>
            <a:ext cx="46177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B75B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852928" y="4636008"/>
            <a:ext cx="4398264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 for Libre with insulins is rising and relies on large acquisitions to gain share in this segment</a:t>
            </a:r>
            <a:endParaRPr lang="en-US" sz="950" dirty="0"/>
          </a:p>
          <a:p>
            <a:pPr algn="l" marL="342900" indent="-342900"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GLP-1 disruption in CGM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7452360" y="4562856"/>
            <a:ext cx="43434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B75B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562088" y="4636008"/>
            <a:ext cx="4123944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Tuck-in M&amp;A with insulin companies to grow organically and boost pricing power</a:t>
            </a:r>
            <a:endParaRPr lang="en-US" sz="950" dirty="0"/>
          </a:p>
          <a:p>
            <a:pPr algn="l" marL="342900" indent="-342900"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Bigfoot Biomedical ($25mm) strengthens diabetes care via insulin delivery + digital health tools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40080" y="6473952"/>
            <a:ext cx="10911535" cy="0"/>
          </a:xfrm>
          <a:prstGeom prst="line">
            <a:avLst/>
          </a:prstGeom>
          <a:noFill/>
          <a:ln w="38100">
            <a:solidFill>
              <a:srgbClr val="D0D4D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93776" y="6327648"/>
            <a:ext cx="292608" cy="292608"/>
          </a:xfrm>
          <a:prstGeom prst="ellipse">
            <a:avLst/>
          </a:prstGeom>
          <a:solidFill>
            <a:srgbClr val="D0D4D8"/>
          </a:solidFill>
          <a:ln/>
        </p:spPr>
      </p:sp>
      <p:sp>
        <p:nvSpPr>
          <p:cNvPr id="35" name="Text 33"/>
          <p:cNvSpPr/>
          <p:nvPr/>
        </p:nvSpPr>
        <p:spPr>
          <a:xfrm>
            <a:off x="493776" y="63276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-182880" y="6665976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Company/Industry Overview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2676083" y="6327648"/>
            <a:ext cx="292608" cy="292608"/>
          </a:xfrm>
          <a:prstGeom prst="ellipse">
            <a:avLst/>
          </a:prstGeom>
          <a:solidFill>
            <a:srgbClr val="D0D4D8"/>
          </a:solidFill>
          <a:ln/>
        </p:spPr>
      </p:sp>
      <p:sp>
        <p:nvSpPr>
          <p:cNvPr id="38" name="Text 36"/>
          <p:cNvSpPr/>
          <p:nvPr/>
        </p:nvSpPr>
        <p:spPr>
          <a:xfrm>
            <a:off x="2676083" y="63276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1999427" y="6665976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Thesis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4858390" y="6327648"/>
            <a:ext cx="292608" cy="292608"/>
          </a:xfrm>
          <a:prstGeom prst="ellipse">
            <a:avLst/>
          </a:prstGeom>
          <a:solidFill>
            <a:srgbClr val="D0D4D8"/>
          </a:solidFill>
          <a:ln/>
        </p:spPr>
      </p:sp>
      <p:sp>
        <p:nvSpPr>
          <p:cNvPr id="41" name="Text 39"/>
          <p:cNvSpPr/>
          <p:nvPr/>
        </p:nvSpPr>
        <p:spPr>
          <a:xfrm>
            <a:off x="4858390" y="63276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181734" y="6665976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Statement Modeling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7040697" y="6327648"/>
            <a:ext cx="292608" cy="292608"/>
          </a:xfrm>
          <a:prstGeom prst="ellipse">
            <a:avLst/>
          </a:prstGeom>
          <a:solidFill>
            <a:srgbClr val="D0D4D8"/>
          </a:solidFill>
          <a:ln/>
        </p:spPr>
      </p:sp>
      <p:sp>
        <p:nvSpPr>
          <p:cNvPr id="44" name="Text 42"/>
          <p:cNvSpPr/>
          <p:nvPr/>
        </p:nvSpPr>
        <p:spPr>
          <a:xfrm>
            <a:off x="7040697" y="63276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6364041" y="6665976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Valuations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9223004" y="6327648"/>
            <a:ext cx="292608" cy="292608"/>
          </a:xfrm>
          <a:prstGeom prst="ellipse">
            <a:avLst/>
          </a:prstGeom>
          <a:solidFill>
            <a:srgbClr val="0089CF"/>
          </a:solidFill>
          <a:ln/>
        </p:spPr>
      </p:sp>
      <p:sp>
        <p:nvSpPr>
          <p:cNvPr id="47" name="Text 45"/>
          <p:cNvSpPr/>
          <p:nvPr/>
        </p:nvSpPr>
        <p:spPr>
          <a:xfrm>
            <a:off x="9223004" y="63276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8546348" y="6665976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/ Mitigants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11405311" y="6327648"/>
            <a:ext cx="292608" cy="292608"/>
          </a:xfrm>
          <a:prstGeom prst="ellipse">
            <a:avLst/>
          </a:prstGeom>
          <a:solidFill>
            <a:srgbClr val="D0D4D8"/>
          </a:solidFill>
          <a:ln/>
        </p:spPr>
      </p:sp>
      <p:sp>
        <p:nvSpPr>
          <p:cNvPr id="50" name="Text 48"/>
          <p:cNvSpPr/>
          <p:nvPr/>
        </p:nvSpPr>
        <p:spPr>
          <a:xfrm>
            <a:off x="11405311" y="63276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10728655" y="6665976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Recommendation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384048" y="868680"/>
            <a:ext cx="5669280" cy="0"/>
          </a:xfrm>
          <a:prstGeom prst="line">
            <a:avLst/>
          </a:prstGeom>
          <a:noFill/>
          <a:ln w="31750">
            <a:solidFill>
              <a:srgbClr val="0089C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84048" y="914400"/>
            <a:ext cx="5669280" cy="0"/>
          </a:xfrm>
          <a:prstGeom prst="line">
            <a:avLst/>
          </a:prstGeom>
          <a:noFill/>
          <a:ln w="12700">
            <a:solidFill>
              <a:srgbClr val="0089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30000" y="164592"/>
            <a:ext cx="45720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31750">
            <a:solidFill>
              <a:srgbClr val="0089C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0" y="109728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rgbClr val="0089C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1292840" y="530352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Abbott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1051560"/>
            <a:ext cx="114300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89C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05156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recommend a </a:t>
            </a:r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Buy</a:t>
            </a:r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with a 2-year target price of </a:t>
            </a:r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$121.61</a:t>
            </a:r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(32.5% upside)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1737360"/>
            <a:ext cx="5120640" cy="384048"/>
          </a:xfrm>
          <a:prstGeom prst="rect">
            <a:avLst/>
          </a:prstGeom>
          <a:solidFill>
            <a:srgbClr val="1B75BC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1737360"/>
            <a:ext cx="5120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Valuation Weighting</a:t>
            </a:r>
            <a:endParaRPr lang="en-US" sz="1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80160" y="2286000"/>
          <a:ext cx="4023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97280"/>
                <a:gridCol w="10972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Method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A8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Target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A8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Weight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A8D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Direct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$111.64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Indirect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$144.95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DCF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$114.92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50%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Blended Target Price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$121.61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6126480" y="1737360"/>
            <a:ext cx="5486400" cy="384048"/>
          </a:xfrm>
          <a:prstGeom prst="rect">
            <a:avLst/>
          </a:prstGeom>
          <a:solidFill>
            <a:srgbClr val="1B75BC"/>
          </a:solidFill>
          <a:ln/>
        </p:spPr>
      </p:sp>
      <p:sp>
        <p:nvSpPr>
          <p:cNvPr id="14" name="Text 11"/>
          <p:cNvSpPr/>
          <p:nvPr/>
        </p:nvSpPr>
        <p:spPr>
          <a:xfrm>
            <a:off x="6126480" y="173736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Street Estimates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040880" y="23317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9418320" y="23317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$ 160.00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7040880" y="271576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Median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9418320" y="271576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$ 135.00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7040880" y="3099816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9418320" y="3099816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$ 117.00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7040880" y="3483864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Average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418320" y="3483864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$ 137.48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7040880" y="386791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Current Price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9418320" y="386791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$ 140.22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365760" y="4343400"/>
            <a:ext cx="11430000" cy="384048"/>
          </a:xfrm>
          <a:prstGeom prst="rect">
            <a:avLst/>
          </a:prstGeom>
          <a:solidFill>
            <a:srgbClr val="1B75BC"/>
          </a:solidFill>
          <a:ln/>
        </p:spPr>
      </p:sp>
      <p:sp>
        <p:nvSpPr>
          <p:cNvPr id="26" name="Text 23"/>
          <p:cNvSpPr/>
          <p:nvPr/>
        </p:nvSpPr>
        <p:spPr>
          <a:xfrm>
            <a:off x="365760" y="4343400"/>
            <a:ext cx="11430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 Recap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457200" y="4892040"/>
            <a:ext cx="35661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89CF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94360" y="4983480"/>
            <a:ext cx="3291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 and Rapidly Growing Addressable Market for Libre </a:t>
            </a:r>
            <a:pPr algn="ct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will help Abbott capitalize off this opportunity.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4270248" y="4892040"/>
            <a:ext cx="35661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89C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407408" y="4983480"/>
            <a:ext cx="3291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Strong Financials and Earnings </a:t>
            </a:r>
            <a:pPr algn="ct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Despite macroeconomic headwinds and increasing competition, performance shows Abbott's strength and ability to perform during unpredictable times.</a:t>
            </a:r>
            <a:endParaRPr 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8083296" y="4892040"/>
            <a:ext cx="35661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89CF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220456" y="4983480"/>
            <a:ext cx="3291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Abbott's Expansion into Medical Device and Insulin Market </a:t>
            </a:r>
            <a:pPr algn="ct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will help Abbott gain market share in PFA systems and dominance in diabetes treatment and monitoring.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640080" y="6473952"/>
            <a:ext cx="10911535" cy="0"/>
          </a:xfrm>
          <a:prstGeom prst="line">
            <a:avLst/>
          </a:prstGeom>
          <a:noFill/>
          <a:ln w="38100">
            <a:solidFill>
              <a:srgbClr val="D0D4D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93776" y="6327648"/>
            <a:ext cx="292608" cy="292608"/>
          </a:xfrm>
          <a:prstGeom prst="ellipse">
            <a:avLst/>
          </a:prstGeom>
          <a:solidFill>
            <a:srgbClr val="D0D4D8"/>
          </a:solidFill>
          <a:ln/>
        </p:spPr>
      </p:sp>
      <p:sp>
        <p:nvSpPr>
          <p:cNvPr id="35" name="Text 32"/>
          <p:cNvSpPr/>
          <p:nvPr/>
        </p:nvSpPr>
        <p:spPr>
          <a:xfrm>
            <a:off x="493776" y="63276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-182880" y="6665976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Company/Industry Overview</a:t>
            </a:r>
            <a:endParaRPr lang="en-US" sz="800" dirty="0"/>
          </a:p>
        </p:txBody>
      </p:sp>
      <p:sp>
        <p:nvSpPr>
          <p:cNvPr id="37" name="Shape 34"/>
          <p:cNvSpPr/>
          <p:nvPr/>
        </p:nvSpPr>
        <p:spPr>
          <a:xfrm>
            <a:off x="2676083" y="6327648"/>
            <a:ext cx="292608" cy="292608"/>
          </a:xfrm>
          <a:prstGeom prst="ellipse">
            <a:avLst/>
          </a:prstGeom>
          <a:solidFill>
            <a:srgbClr val="D0D4D8"/>
          </a:solidFill>
          <a:ln/>
        </p:spPr>
      </p:sp>
      <p:sp>
        <p:nvSpPr>
          <p:cNvPr id="38" name="Text 35"/>
          <p:cNvSpPr/>
          <p:nvPr/>
        </p:nvSpPr>
        <p:spPr>
          <a:xfrm>
            <a:off x="2676083" y="63276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1999427" y="6665976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Thesis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4858390" y="6327648"/>
            <a:ext cx="292608" cy="292608"/>
          </a:xfrm>
          <a:prstGeom prst="ellipse">
            <a:avLst/>
          </a:prstGeom>
          <a:solidFill>
            <a:srgbClr val="D0D4D8"/>
          </a:solidFill>
          <a:ln/>
        </p:spPr>
      </p:sp>
      <p:sp>
        <p:nvSpPr>
          <p:cNvPr id="41" name="Text 38"/>
          <p:cNvSpPr/>
          <p:nvPr/>
        </p:nvSpPr>
        <p:spPr>
          <a:xfrm>
            <a:off x="4858390" y="63276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4181734" y="6665976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Statement Modeling</a:t>
            </a:r>
            <a:endParaRPr lang="en-US" sz="800" dirty="0"/>
          </a:p>
        </p:txBody>
      </p:sp>
      <p:sp>
        <p:nvSpPr>
          <p:cNvPr id="43" name="Shape 40"/>
          <p:cNvSpPr/>
          <p:nvPr/>
        </p:nvSpPr>
        <p:spPr>
          <a:xfrm>
            <a:off x="7040697" y="6327648"/>
            <a:ext cx="292608" cy="292608"/>
          </a:xfrm>
          <a:prstGeom prst="ellipse">
            <a:avLst/>
          </a:prstGeom>
          <a:solidFill>
            <a:srgbClr val="D0D4D8"/>
          </a:solidFill>
          <a:ln/>
        </p:spPr>
      </p:sp>
      <p:sp>
        <p:nvSpPr>
          <p:cNvPr id="44" name="Text 41"/>
          <p:cNvSpPr/>
          <p:nvPr/>
        </p:nvSpPr>
        <p:spPr>
          <a:xfrm>
            <a:off x="7040697" y="63276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6364041" y="6665976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Valuations</a:t>
            </a:r>
            <a:endParaRPr lang="en-US" sz="800" dirty="0"/>
          </a:p>
        </p:txBody>
      </p:sp>
      <p:sp>
        <p:nvSpPr>
          <p:cNvPr id="46" name="Shape 43"/>
          <p:cNvSpPr/>
          <p:nvPr/>
        </p:nvSpPr>
        <p:spPr>
          <a:xfrm>
            <a:off x="9223004" y="6327648"/>
            <a:ext cx="292608" cy="292608"/>
          </a:xfrm>
          <a:prstGeom prst="ellipse">
            <a:avLst/>
          </a:prstGeom>
          <a:solidFill>
            <a:srgbClr val="D0D4D8"/>
          </a:solidFill>
          <a:ln/>
        </p:spPr>
      </p:sp>
      <p:sp>
        <p:nvSpPr>
          <p:cNvPr id="47" name="Text 44"/>
          <p:cNvSpPr/>
          <p:nvPr/>
        </p:nvSpPr>
        <p:spPr>
          <a:xfrm>
            <a:off x="9223004" y="63276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8" name="Text 45"/>
          <p:cNvSpPr/>
          <p:nvPr/>
        </p:nvSpPr>
        <p:spPr>
          <a:xfrm>
            <a:off x="8546348" y="6665976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/ Mitigants</a:t>
            </a:r>
            <a:endParaRPr lang="en-US" sz="800" dirty="0"/>
          </a:p>
        </p:txBody>
      </p:sp>
      <p:sp>
        <p:nvSpPr>
          <p:cNvPr id="49" name="Shape 46"/>
          <p:cNvSpPr/>
          <p:nvPr/>
        </p:nvSpPr>
        <p:spPr>
          <a:xfrm>
            <a:off x="11405311" y="6327648"/>
            <a:ext cx="292608" cy="292608"/>
          </a:xfrm>
          <a:prstGeom prst="ellipse">
            <a:avLst/>
          </a:prstGeom>
          <a:solidFill>
            <a:srgbClr val="0089CF"/>
          </a:solidFill>
          <a:ln/>
        </p:spPr>
      </p:sp>
      <p:sp>
        <p:nvSpPr>
          <p:cNvPr id="50" name="Text 47"/>
          <p:cNvSpPr/>
          <p:nvPr/>
        </p:nvSpPr>
        <p:spPr>
          <a:xfrm>
            <a:off x="11405311" y="63276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51" name="Text 48"/>
          <p:cNvSpPr/>
          <p:nvPr/>
        </p:nvSpPr>
        <p:spPr>
          <a:xfrm>
            <a:off x="10728655" y="6665976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2026-07-21T04:00:11Z</dcterms:created>
  <dcterms:modified xsi:type="dcterms:W3CDTF">2026-07-21T04:00:11Z</dcterms:modified>
</cp:coreProperties>
</file>